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PRD_Cirne_Rotas_Piloto_v0.1.md — documento interno do projeto, consultado em 03/09/2026.</a:t>
            </a:r>
          </a:p>
          <a:p>
            <a:r>
              <a:t>- Logo Cirne Baterias — imagem fornecida pelo usuário em 03/09/2026.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PRD_Cirne_Rotas_Piloto_v0.1.md — problema de negócio e visão do produto.</a:t>
            </a:r>
          </a:p>
          <a:p>
            <a:r>
              <a:t>- Requisito informado pelo usuário em 03/09/2026: toda visita deve informar sucata e ações comerciais da concorrência.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PRD_Cirne_Rotas_Piloto_v0.1.md — princípios do produto.</a:t>
            </a:r>
          </a:p>
          <a:p>
            <a:r>
              <a:t>- Revisão de escopo aprovada pelo usuário em 03/09/2026.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PRD_Cirne_Rotas_Piloto_v0.1.md — fluxo principal da visita.</a:t>
            </a:r>
          </a:p>
          <a:p>
            <a:r>
              <a:t>- Revisão de escopo aprovada pelo usuário em 03/09/2026.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PRD_Cirne_Rotas_Piloto_v0.1.md, seção 16.1 — requisitos de usabilidade.</a:t>
            </a:r>
          </a:p>
          <a:p>
            <a:r>
              <a:t>- Ordem técnica do projeto — identidade provisória em laranja, preto e branco; verde institucional incorporado a partir do logo fornecido pelo usuário.</a:t>
            </a:r>
          </a:p>
          <a:p>
            <a:r>
              <a:t>- Mockup original criado para esta apresentação; dados ilustrativos.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PRD_Cirne_Rotas_Piloto_v0.1.md, decisões DEC-001, DEC-010 e mapa de telas.</a:t>
            </a:r>
          </a:p>
          <a:p>
            <a:r>
              <a:t>- Mockup original criado para esta apresentação; clientes e indicadores são ilustrativos.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Requisito definido pelo usuário em 03/09/2026: coleta de estoque Heliar e Moura em cada visita.</a:t>
            </a:r>
          </a:p>
          <a:p>
            <a:r>
              <a:t>- Mockup original criado para esta apresentação; quantidades e percentuais são ilustrativos.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Requisito definido pelo usuário em 03/09/2026: pesquisa de preços da concorrência em cada visita.</a:t>
            </a:r>
          </a:p>
          <a:p>
            <a:r>
              <a:t>- Mockup original criado para esta apresentação; marcas, modelos e preços são ilustrativos.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Requisito informado pelo usuário em 03/09/2026: toda visita deve registrar ações comerciais da concorrência.</a:t>
            </a:r>
          </a:p>
          <a:p>
            <a:r>
              <a:t>- Mockup conceitual com dados ilustrativos, criado para a apresentação do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Requisito informado pelo usuário em 03/09/2026: registrar kg coletados pelo vendedor ou kg agendados com data para a logística.</a:t>
            </a:r>
          </a:p>
          <a:p>
            <a:r>
              <a:t>- Regra já definida no projeto: coleta realizada exige número de canhoto manual e identificação do coletor.</a:t>
            </a:r>
          </a:p>
          <a:p>
            <a:r>
              <a:t>- O agendamento nasce estruturado para alimentar um futuro módulo de solicitações de coleta de sucata.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PRD_Cirne_Rotas_Piloto_v0.1.md — registro único da visita.</a:t>
            </a:r>
          </a:p>
          <a:p>
            <a:r>
              <a:t>- Revisão de escopo aprovada pelo usuário em 03/09/2026.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PRD_Cirne_Rotas_Piloto_v0.1.md, fluxo do gestor e mapa de telas.</a:t>
            </a:r>
          </a:p>
          <a:p>
            <a:r>
              <a:t>- Mockup original criado para esta apresentação; nomes e datas são ilustrativos.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PRD_Cirne_Rotas_Piloto_v0.1.md — visão gerencial e inteligência de campo.</a:t>
            </a:r>
          </a:p>
          <a:p>
            <a:r>
              <a:t>- Indicadores e valores exibidos são ilustrativos.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PRD_Cirne_Rotas_Piloto_v0.1.md — inteligência de mercado e execução.</a:t>
            </a:r>
          </a:p>
          <a:p>
            <a:r>
              <a:t>- Revisão de escopo aprovada pelo usuário em 03/09/2026.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PRD_Cirne_Rotas_Piloto_v0.1.md — escopo do piloto.</a:t>
            </a:r>
          </a:p>
          <a:p>
            <a:r>
              <a:t>- A solicitação completa de coleta permanece evolução futura; o piloto captura a base estruturada.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PRD_Cirne_Rotas_Piloto_v0.1.md — piloto de 30 dias e critérios iniciais de sucesso.</a:t>
            </a:r>
          </a:p>
          <a:p>
            <a:r>
              <a:t>- Meta de completude atualizada para os informes obrigatórios definidos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PRD_Cirne_Rotas_Piloto_v0.1.md — decisão de implantação incremental.</a:t>
            </a:r>
          </a:p>
          <a:p>
            <a:r>
              <a:t>- Revisão de escopo aprovada pelo usuário em 03/09/2026.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3E3CED3B-BDE3-4521-85C1-AE2BBBF55F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66800" cy="6858000"/>
          </a:xfrm>
          <a:prstGeom prst="rect">
            <a:avLst/>
          </a:prstGeom>
          <a:solidFill>
            <a:srgbClr val="06331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8E954DD-B2DB-47C9-AED1-2861CE05899C}"/>
              </a:ext>
            </a:extLst>
          </p:cNvPr>
          <p:cNvSpPr>
            <a:spLocks noGrp="1"/>
          </p:cNvSpPr>
          <p:nvPr/>
        </p:nvSpPr>
        <p:spPr>
          <a:xfrm>
            <a:off x="1066800" y="0"/>
            <a:ext cx="104775" cy="6858000"/>
          </a:xfrm>
          <a:prstGeom prst="rect">
            <a:avLst/>
          </a:prstGeom>
          <a:solidFill>
            <a:srgbClr val="FF79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676B1D7-B7F2-473C-99FA-229B543F9EB9}"/>
              </a:ext>
            </a:extLst>
          </p:cNvPr>
          <p:cNvSpPr>
            <a:spLocks noGrp="1"/>
          </p:cNvSpPr>
          <p:nvPr/>
        </p:nvSpPr>
        <p:spPr>
          <a:xfrm>
            <a:off x="8953500" y="0"/>
            <a:ext cx="3238500" cy="323850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442F673-93D9-42A5-ADB2-0EE49A944639}"/>
              </a:ext>
            </a:extLst>
          </p:cNvPr>
          <p:cNvSpPr>
            <a:spLocks noGrp="1"/>
          </p:cNvSpPr>
          <p:nvPr/>
        </p:nvSpPr>
        <p:spPr>
          <a:xfrm>
            <a:off x="9525000" y="4124325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88942" y="619125"/>
            <a:ext cx="3575367" cy="1190625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3B72CA8-DDEA-4B31-B7E4-4EA988F86461}"/>
              </a:ext>
            </a:extLst>
          </p:cNvPr>
          <p:cNvSpPr>
            <a:spLocks noGrp="1"/>
          </p:cNvSpPr>
          <p:nvPr/>
        </p:nvSpPr>
        <p:spPr>
          <a:xfrm>
            <a:off x="1619250" y="2076450"/>
            <a:ext cx="1586865" cy="266700"/>
          </a:xfrm>
          <a:prstGeom prst="roundRect">
            <a:avLst>
              <a:gd name="adj" fmla="val 50000"/>
            </a:avLst>
          </a:prstGeom>
          <a:solidFill>
            <a:srgbClr val="FFF0E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F76EB73-FB1A-40A8-AB8A-2D96F0E909C9}"/>
              </a:ext>
            </a:extLst>
          </p:cNvPr>
          <p:cNvSpPr>
            <a:spLocks noGrp="1"/>
          </p:cNvSpPr>
          <p:nvPr/>
        </p:nvSpPr>
        <p:spPr>
          <a:xfrm>
            <a:off x="1885950" y="2094885"/>
            <a:ext cx="132016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88" b="1">
                <a:solidFill>
                  <a:srgbClr val="A64B00"/>
                </a:solidFill>
              </a:defRPr>
            </a:pPr>
            <a:r>
              <a:rPr sz="788" b="1" dirty="0">
                <a:solidFill>
                  <a:srgbClr val="A64B00"/>
                </a:solidFill>
              </a:rPr>
              <a:t>PROPOSTA DE PILOTO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659D25F-6EA6-4B66-99F8-E40DD3E31696}"/>
              </a:ext>
            </a:extLst>
          </p:cNvPr>
          <p:cNvSpPr>
            <a:spLocks noGrp="1"/>
          </p:cNvSpPr>
          <p:nvPr/>
        </p:nvSpPr>
        <p:spPr>
          <a:xfrm>
            <a:off x="1581150" y="2495550"/>
            <a:ext cx="6191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875" b="1">
                <a:solidFill>
                  <a:srgbClr val="121512"/>
                </a:solidFill>
              </a:defRPr>
            </a:pPr>
            <a:r>
              <a:rPr sz="4875" b="1">
                <a:solidFill>
                  <a:srgbClr val="121512"/>
                </a:solidFill>
              </a:rPr>
              <a:t>CIRNE</a:t>
            </a:r>
          </a:p>
          <a:p>
            <a:pPr algn="l">
              <a:buNone/>
              <a:defRPr sz="4875" b="1">
                <a:solidFill>
                  <a:srgbClr val="121512"/>
                </a:solidFill>
              </a:defRPr>
            </a:pPr>
            <a:r>
              <a:rPr sz="4875" b="1">
                <a:solidFill>
                  <a:srgbClr val="121512"/>
                </a:solidFill>
              </a:rPr>
              <a:t>ROTAS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F513449-452E-49AB-A20B-72BC4CFED043}"/>
              </a:ext>
            </a:extLst>
          </p:cNvPr>
          <p:cNvSpPr>
            <a:spLocks noGrp="1"/>
          </p:cNvSpPr>
          <p:nvPr/>
        </p:nvSpPr>
        <p:spPr>
          <a:xfrm>
            <a:off x="1638300" y="4257675"/>
            <a:ext cx="6191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0">
                <a:solidFill>
                  <a:srgbClr val="667168"/>
                </a:solidFill>
              </a:defRPr>
            </a:pPr>
            <a:r>
              <a:rPr sz="1875" b="0" dirty="0" err="1">
                <a:solidFill>
                  <a:srgbClr val="667168"/>
                </a:solidFill>
              </a:rPr>
              <a:t>Planejamento</a:t>
            </a:r>
            <a:r>
              <a:rPr sz="1875" b="0" dirty="0">
                <a:solidFill>
                  <a:srgbClr val="667168"/>
                </a:solidFill>
              </a:rPr>
              <a:t> </a:t>
            </a:r>
            <a:r>
              <a:rPr sz="1875" b="0" dirty="0" err="1">
                <a:solidFill>
                  <a:srgbClr val="667168"/>
                </a:solidFill>
              </a:rPr>
              <a:t>diário</a:t>
            </a:r>
            <a:r>
              <a:rPr sz="1875" b="0" dirty="0">
                <a:solidFill>
                  <a:srgbClr val="667168"/>
                </a:solidFill>
              </a:rPr>
              <a:t>, </a:t>
            </a:r>
            <a:r>
              <a:rPr sz="1875" b="0" dirty="0" err="1">
                <a:solidFill>
                  <a:srgbClr val="667168"/>
                </a:solidFill>
              </a:rPr>
              <a:t>execução</a:t>
            </a:r>
            <a:r>
              <a:rPr sz="1875" b="0" dirty="0">
                <a:solidFill>
                  <a:srgbClr val="667168"/>
                </a:solidFill>
              </a:rPr>
              <a:t> </a:t>
            </a:r>
            <a:r>
              <a:rPr sz="1875" b="0" dirty="0" err="1">
                <a:solidFill>
                  <a:srgbClr val="667168"/>
                </a:solidFill>
              </a:rPr>
              <a:t>comprovada</a:t>
            </a:r>
            <a:endParaRPr sz="1875" b="0" dirty="0">
              <a:solidFill>
                <a:srgbClr val="667168"/>
              </a:solidFill>
            </a:endParaRPr>
          </a:p>
          <a:p>
            <a:pPr algn="l">
              <a:buNone/>
              <a:defRPr sz="1875" b="0">
                <a:solidFill>
                  <a:srgbClr val="667168"/>
                </a:solidFill>
              </a:defRPr>
            </a:pPr>
            <a:r>
              <a:rPr sz="1875" b="0" dirty="0">
                <a:solidFill>
                  <a:srgbClr val="667168"/>
                </a:solidFill>
              </a:rPr>
              <a:t>e </a:t>
            </a:r>
            <a:r>
              <a:rPr sz="1875" b="0" dirty="0" err="1">
                <a:solidFill>
                  <a:srgbClr val="667168"/>
                </a:solidFill>
              </a:rPr>
              <a:t>inteligência</a:t>
            </a:r>
            <a:r>
              <a:rPr sz="1875" b="0" dirty="0">
                <a:solidFill>
                  <a:srgbClr val="667168"/>
                </a:solidFill>
              </a:rPr>
              <a:t> de mercado.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F934B9B-8C7F-439D-B61E-DB36E15AD73D}"/>
              </a:ext>
            </a:extLst>
          </p:cNvPr>
          <p:cNvSpPr>
            <a:spLocks noGrp="1"/>
          </p:cNvSpPr>
          <p:nvPr/>
        </p:nvSpPr>
        <p:spPr>
          <a:xfrm>
            <a:off x="1638300" y="59436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00783B"/>
                </a:solidFill>
              </a:defRPr>
            </a:pPr>
            <a:r>
              <a:rPr sz="1125" b="1" dirty="0">
                <a:solidFill>
                  <a:srgbClr val="00783B"/>
                </a:solidFill>
              </a:rPr>
              <a:t>Cirne Baterias · </a:t>
            </a:r>
            <a:r>
              <a:rPr sz="1125" b="1" dirty="0" err="1">
                <a:solidFill>
                  <a:srgbClr val="00783B"/>
                </a:solidFill>
              </a:rPr>
              <a:t>Setembro</a:t>
            </a:r>
            <a:r>
              <a:rPr sz="1125" b="1" dirty="0">
                <a:solidFill>
                  <a:srgbClr val="00783B"/>
                </a:solidFill>
              </a:rPr>
              <a:t> de 2026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8AD36B1-7E16-4531-950C-6B57423F1AFA}"/>
              </a:ext>
            </a:extLst>
          </p:cNvPr>
          <p:cNvSpPr>
            <a:spLocks noGrp="1"/>
          </p:cNvSpPr>
          <p:nvPr/>
        </p:nvSpPr>
        <p:spPr>
          <a:xfrm>
            <a:off x="10029825" y="47815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ROTA CERTA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4981DD0-3BBB-427B-A3ED-A9CA88C174F7}"/>
              </a:ext>
            </a:extLst>
          </p:cNvPr>
          <p:cNvSpPr>
            <a:spLocks noGrp="1"/>
          </p:cNvSpPr>
          <p:nvPr/>
        </p:nvSpPr>
        <p:spPr>
          <a:xfrm>
            <a:off x="9620250" y="52197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VISITA ÚTIL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8C0E070-86E9-4C8B-9EB3-C610D77821F9}"/>
              </a:ext>
            </a:extLst>
          </p:cNvPr>
          <p:cNvSpPr>
            <a:spLocks noGrp="1"/>
          </p:cNvSpPr>
          <p:nvPr/>
        </p:nvSpPr>
        <p:spPr>
          <a:xfrm>
            <a:off x="9363075" y="56578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DADO QUE VOLTA</a:t>
            </a:r>
          </a:p>
        </p:txBody>
      </p:sp>
    </p:spTree>
    <p:extLst>
      <p:ext uri="{BB962C8B-B14F-4D97-AF65-F5344CB8AC3E}">
        <p14:creationId xmlns:p14="http://schemas.microsoft.com/office/powerpoint/2010/main" val="2029242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B363DA9A-EB79-44D2-9297-77A5BFCC301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8359A02-5DB4-4168-B0AB-B35D297327D6}"/>
              </a:ext>
            </a:extLst>
          </p:cNvPr>
          <p:cNvSpPr>
            <a:spLocks noGrp="1"/>
          </p:cNvSpPr>
          <p:nvPr/>
        </p:nvSpPr>
        <p:spPr>
          <a:xfrm>
            <a:off x="819150" y="419100"/>
            <a:ext cx="1162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88" b="1">
                <a:solidFill>
                  <a:srgbClr val="00783B"/>
                </a:solidFill>
              </a:defRPr>
            </a:pPr>
            <a:r>
              <a:rPr sz="788" b="1">
                <a:solidFill>
                  <a:srgbClr val="00783B"/>
                </a:solidFill>
              </a:rPr>
              <a:t>O PROBLEMA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992B791-02AF-42C3-838C-BA9078E59AE8}"/>
              </a:ext>
            </a:extLst>
          </p:cNvPr>
          <p:cNvSpPr>
            <a:spLocks noGrp="1"/>
          </p:cNvSpPr>
          <p:nvPr/>
        </p:nvSpPr>
        <p:spPr>
          <a:xfrm>
            <a:off x="685800" y="847725"/>
            <a:ext cx="6572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21512"/>
                </a:solidFill>
              </a:defRPr>
            </a:pPr>
            <a:r>
              <a:rPr sz="3225" b="1" dirty="0" err="1">
                <a:solidFill>
                  <a:srgbClr val="121512"/>
                </a:solidFill>
              </a:rPr>
              <a:t>Hoje</a:t>
            </a:r>
            <a:r>
              <a:rPr sz="3225" b="1" dirty="0">
                <a:solidFill>
                  <a:srgbClr val="121512"/>
                </a:solidFill>
              </a:rPr>
              <a:t>, a </a:t>
            </a:r>
            <a:r>
              <a:rPr sz="3225" b="1" dirty="0" err="1">
                <a:solidFill>
                  <a:srgbClr val="121512"/>
                </a:solidFill>
              </a:rPr>
              <a:t>rua</a:t>
            </a:r>
            <a:r>
              <a:rPr sz="3225" b="1" dirty="0">
                <a:solidFill>
                  <a:srgbClr val="121512"/>
                </a:solidFill>
              </a:rPr>
              <a:t> </a:t>
            </a:r>
            <a:r>
              <a:rPr sz="3225" b="1" dirty="0" err="1">
                <a:solidFill>
                  <a:srgbClr val="121512"/>
                </a:solidFill>
              </a:rPr>
              <a:t>gera</a:t>
            </a:r>
            <a:r>
              <a:rPr sz="3225" b="1" dirty="0">
                <a:solidFill>
                  <a:srgbClr val="121512"/>
                </a:solidFill>
              </a:rPr>
              <a:t> </a:t>
            </a:r>
            <a:r>
              <a:rPr sz="3225" b="1" dirty="0" err="1">
                <a:solidFill>
                  <a:srgbClr val="121512"/>
                </a:solidFill>
              </a:rPr>
              <a:t>informação</a:t>
            </a:r>
            <a:endParaRPr sz="3225" b="1" dirty="0">
              <a:solidFill>
                <a:srgbClr val="121512"/>
              </a:solidFill>
            </a:endParaRPr>
          </a:p>
          <a:p>
            <a:pPr algn="l">
              <a:buNone/>
              <a:defRPr sz="3225" b="1">
                <a:solidFill>
                  <a:srgbClr val="121512"/>
                </a:solidFill>
              </a:defRPr>
            </a:pPr>
            <a:r>
              <a:rPr sz="3225" b="1" dirty="0" err="1">
                <a:solidFill>
                  <a:srgbClr val="121512"/>
                </a:solidFill>
              </a:rPr>
              <a:t>que</a:t>
            </a:r>
            <a:r>
              <a:rPr sz="3225" b="1" dirty="0">
                <a:solidFill>
                  <a:srgbClr val="121512"/>
                </a:solidFill>
              </a:rPr>
              <a:t> </a:t>
            </a:r>
            <a:r>
              <a:rPr sz="3225" b="1" dirty="0" err="1">
                <a:solidFill>
                  <a:srgbClr val="121512"/>
                </a:solidFill>
              </a:rPr>
              <a:t>não</a:t>
            </a:r>
            <a:r>
              <a:rPr sz="3225" b="1" dirty="0">
                <a:solidFill>
                  <a:srgbClr val="121512"/>
                </a:solidFill>
              </a:rPr>
              <a:t> volta para a </a:t>
            </a:r>
            <a:r>
              <a:rPr sz="3225" b="1" dirty="0" err="1">
                <a:solidFill>
                  <a:srgbClr val="121512"/>
                </a:solidFill>
              </a:rPr>
              <a:t>gestão</a:t>
            </a:r>
            <a:r>
              <a:rPr lang="pt-BR" sz="3225" b="1" dirty="0">
                <a:solidFill>
                  <a:srgbClr val="121512"/>
                </a:solidFill>
              </a:rPr>
              <a:t> de forma</a:t>
            </a:r>
          </a:p>
          <a:p>
            <a:pPr algn="l">
              <a:buNone/>
              <a:defRPr sz="3225" b="1">
                <a:solidFill>
                  <a:srgbClr val="121512"/>
                </a:solidFill>
              </a:defRPr>
            </a:pPr>
            <a:r>
              <a:rPr lang="pt-BR" sz="3225" b="1" dirty="0">
                <a:solidFill>
                  <a:srgbClr val="121512"/>
                </a:solidFill>
              </a:rPr>
              <a:t>organizada</a:t>
            </a:r>
            <a:endParaRPr sz="3225" b="1" dirty="0">
              <a:solidFill>
                <a:srgbClr val="121512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C9B28D6-EA12-4F02-B8CF-C7A982BAD468}"/>
              </a:ext>
            </a:extLst>
          </p:cNvPr>
          <p:cNvSpPr>
            <a:spLocks noGrp="1"/>
          </p:cNvSpPr>
          <p:nvPr/>
        </p:nvSpPr>
        <p:spPr>
          <a:xfrm>
            <a:off x="666750" y="2614612"/>
            <a:ext cx="6381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667168"/>
                </a:solidFill>
              </a:defRPr>
            </a:pPr>
            <a:r>
              <a:rPr sz="1425" b="0" dirty="0">
                <a:solidFill>
                  <a:srgbClr val="667168"/>
                </a:solidFill>
              </a:rPr>
              <a:t>Sem um </a:t>
            </a:r>
            <a:r>
              <a:rPr sz="1425" b="0" dirty="0" err="1">
                <a:solidFill>
                  <a:srgbClr val="667168"/>
                </a:solidFill>
              </a:rPr>
              <a:t>processo</a:t>
            </a:r>
            <a:r>
              <a:rPr sz="1425" b="0" dirty="0">
                <a:solidFill>
                  <a:srgbClr val="667168"/>
                </a:solidFill>
              </a:rPr>
              <a:t> </a:t>
            </a:r>
            <a:r>
              <a:rPr sz="1425" b="0" dirty="0" err="1">
                <a:solidFill>
                  <a:srgbClr val="667168"/>
                </a:solidFill>
              </a:rPr>
              <a:t>único</a:t>
            </a:r>
            <a:r>
              <a:rPr sz="1425" b="0" dirty="0">
                <a:solidFill>
                  <a:srgbClr val="667168"/>
                </a:solidFill>
              </a:rPr>
              <a:t>, o </a:t>
            </a:r>
            <a:r>
              <a:rPr sz="1425" b="0" dirty="0" err="1">
                <a:solidFill>
                  <a:srgbClr val="667168"/>
                </a:solidFill>
              </a:rPr>
              <a:t>planejamento</a:t>
            </a:r>
            <a:r>
              <a:rPr sz="1425" b="0" dirty="0">
                <a:solidFill>
                  <a:srgbClr val="667168"/>
                </a:solidFill>
              </a:rPr>
              <a:t> </a:t>
            </a:r>
            <a:r>
              <a:rPr sz="1425" b="0" dirty="0" err="1">
                <a:solidFill>
                  <a:srgbClr val="667168"/>
                </a:solidFill>
              </a:rPr>
              <a:t>fica</a:t>
            </a:r>
            <a:r>
              <a:rPr sz="1425" b="0" dirty="0">
                <a:solidFill>
                  <a:srgbClr val="667168"/>
                </a:solidFill>
              </a:rPr>
              <a:t> </a:t>
            </a:r>
            <a:r>
              <a:rPr sz="1425" b="0" dirty="0" err="1">
                <a:solidFill>
                  <a:srgbClr val="667168"/>
                </a:solidFill>
              </a:rPr>
              <a:t>fragmentado</a:t>
            </a:r>
            <a:r>
              <a:rPr sz="1425" b="0" dirty="0">
                <a:solidFill>
                  <a:srgbClr val="667168"/>
                </a:solidFill>
              </a:rPr>
              <a:t> e a </a:t>
            </a:r>
            <a:r>
              <a:rPr sz="1425" b="0" dirty="0" err="1">
                <a:solidFill>
                  <a:srgbClr val="667168"/>
                </a:solidFill>
              </a:rPr>
              <a:t>leitura</a:t>
            </a:r>
            <a:r>
              <a:rPr sz="1425" b="0" dirty="0">
                <a:solidFill>
                  <a:srgbClr val="667168"/>
                </a:solidFill>
              </a:rPr>
              <a:t> do mercado </a:t>
            </a:r>
            <a:r>
              <a:rPr sz="1425" b="0" dirty="0" err="1">
                <a:solidFill>
                  <a:srgbClr val="667168"/>
                </a:solidFill>
              </a:rPr>
              <a:t>depende</a:t>
            </a:r>
            <a:r>
              <a:rPr sz="1425" b="0" dirty="0">
                <a:solidFill>
                  <a:srgbClr val="667168"/>
                </a:solidFill>
              </a:rPr>
              <a:t> de </a:t>
            </a:r>
            <a:r>
              <a:rPr sz="1425" b="0" dirty="0" err="1">
                <a:solidFill>
                  <a:srgbClr val="667168"/>
                </a:solidFill>
              </a:rPr>
              <a:t>relatos</a:t>
            </a:r>
            <a:r>
              <a:rPr sz="1425" b="0" dirty="0">
                <a:solidFill>
                  <a:srgbClr val="667168"/>
                </a:solidFill>
              </a:rPr>
              <a:t> </a:t>
            </a:r>
            <a:r>
              <a:rPr sz="1425" b="0" dirty="0" err="1">
                <a:solidFill>
                  <a:srgbClr val="667168"/>
                </a:solidFill>
              </a:rPr>
              <a:t>isolados</a:t>
            </a:r>
            <a:r>
              <a:rPr sz="1425" b="0" dirty="0">
                <a:solidFill>
                  <a:srgbClr val="667168"/>
                </a:solidFill>
              </a:rPr>
              <a:t>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CECB25E-8A31-4502-B4D5-C1094EF0F839}"/>
              </a:ext>
            </a:extLst>
          </p:cNvPr>
          <p:cNvSpPr>
            <a:spLocks noGrp="1"/>
          </p:cNvSpPr>
          <p:nvPr/>
        </p:nvSpPr>
        <p:spPr>
          <a:xfrm>
            <a:off x="7620000" y="704850"/>
            <a:ext cx="3905250" cy="5029200"/>
          </a:xfrm>
          <a:prstGeom prst="roundRect">
            <a:avLst>
              <a:gd name="adj" fmla="val 6341"/>
            </a:avLst>
          </a:prstGeom>
          <a:solidFill>
            <a:srgbClr val="121512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68B1226-BB68-497F-869E-F7C454DE4730}"/>
              </a:ext>
            </a:extLst>
          </p:cNvPr>
          <p:cNvSpPr>
            <a:spLocks noGrp="1"/>
          </p:cNvSpPr>
          <p:nvPr/>
        </p:nvSpPr>
        <p:spPr>
          <a:xfrm>
            <a:off x="7962900" y="102870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FF7900"/>
                </a:solidFill>
              </a:defRPr>
            </a:pPr>
            <a:r>
              <a:rPr sz="900" b="1">
                <a:solidFill>
                  <a:srgbClr val="FF7900"/>
                </a:solidFill>
              </a:rPr>
              <a:t>QUATRO PERGUNTAS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235F823-0D36-4335-83F0-3E8D03BEDA2B}"/>
              </a:ext>
            </a:extLst>
          </p:cNvPr>
          <p:cNvSpPr>
            <a:spLocks noGrp="1"/>
          </p:cNvSpPr>
          <p:nvPr/>
        </p:nvSpPr>
        <p:spPr>
          <a:xfrm>
            <a:off x="7962900" y="15240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00A651"/>
                </a:solidFill>
              </a:defRPr>
            </a:pPr>
            <a:r>
              <a:rPr sz="975" b="1">
                <a:solidFill>
                  <a:srgbClr val="00A651"/>
                </a:solidFill>
              </a:rPr>
              <a:t>01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19998F0-931C-47BD-94A6-18076CEF8CDE}"/>
              </a:ext>
            </a:extLst>
          </p:cNvPr>
          <p:cNvSpPr>
            <a:spLocks noGrp="1"/>
          </p:cNvSpPr>
          <p:nvPr/>
        </p:nvSpPr>
        <p:spPr>
          <a:xfrm>
            <a:off x="8429625" y="14859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Quem deveria ser visitado hoje?</a:t>
            </a:r>
          </a:p>
        </p:txBody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7BED2FD3-140C-46AE-8324-CD587AFB8BA1}"/>
              </a:ext>
            </a:extLst>
          </p:cNvPr>
          <p:cNvSpPr>
            <a:spLocks noGrp="1"/>
          </p:cNvSpPr>
          <p:nvPr/>
        </p:nvSpPr>
        <p:spPr>
          <a:xfrm>
            <a:off x="7962900" y="2162175"/>
            <a:ext cx="3143250" cy="0"/>
          </a:xfrm>
          <a:prstGeom prst="line">
            <a:avLst/>
          </a:prstGeom>
          <a:noFill/>
          <a:ln w="9525">
            <a:solidFill>
              <a:srgbClr val="3942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4174CA4-3F03-483A-8809-6AF85CAB22E5}"/>
              </a:ext>
            </a:extLst>
          </p:cNvPr>
          <p:cNvSpPr>
            <a:spLocks noGrp="1"/>
          </p:cNvSpPr>
          <p:nvPr/>
        </p:nvSpPr>
        <p:spPr>
          <a:xfrm>
            <a:off x="7962900" y="25050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00A651"/>
                </a:solidFill>
              </a:defRPr>
            </a:pPr>
            <a:r>
              <a:rPr sz="975" b="1">
                <a:solidFill>
                  <a:srgbClr val="00A651"/>
                </a:solidFill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14305BC-DF07-432B-8151-1123582A4F0B}"/>
              </a:ext>
            </a:extLst>
          </p:cNvPr>
          <p:cNvSpPr>
            <a:spLocks noGrp="1"/>
          </p:cNvSpPr>
          <p:nvPr/>
        </p:nvSpPr>
        <p:spPr>
          <a:xfrm>
            <a:off x="8429625" y="2466975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Quais visitas realmente aconteceram?</a:t>
            </a:r>
          </a:p>
        </p:txBody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id="{31671A9F-7CF2-439E-B8B7-4A293E787F8C}"/>
              </a:ext>
            </a:extLst>
          </p:cNvPr>
          <p:cNvSpPr>
            <a:spLocks noGrp="1"/>
          </p:cNvSpPr>
          <p:nvPr/>
        </p:nvSpPr>
        <p:spPr>
          <a:xfrm>
            <a:off x="7962900" y="3143250"/>
            <a:ext cx="3143250" cy="0"/>
          </a:xfrm>
          <a:prstGeom prst="line">
            <a:avLst/>
          </a:prstGeom>
          <a:noFill/>
          <a:ln w="9525">
            <a:solidFill>
              <a:srgbClr val="3942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8A8BA89-72B9-494C-8249-933F2194679D}"/>
              </a:ext>
            </a:extLst>
          </p:cNvPr>
          <p:cNvSpPr>
            <a:spLocks noGrp="1"/>
          </p:cNvSpPr>
          <p:nvPr/>
        </p:nvSpPr>
        <p:spPr>
          <a:xfrm>
            <a:off x="7962900" y="34861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00A651"/>
                </a:solidFill>
              </a:defRPr>
            </a:pPr>
            <a:r>
              <a:rPr sz="975" b="1">
                <a:solidFill>
                  <a:srgbClr val="00A651"/>
                </a:solidFill>
              </a:rPr>
              <a:t>03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84F08E4-F98D-4F9D-B08C-B8709E8A7F57}"/>
              </a:ext>
            </a:extLst>
          </p:cNvPr>
          <p:cNvSpPr>
            <a:spLocks noGrp="1"/>
          </p:cNvSpPr>
          <p:nvPr/>
        </p:nvSpPr>
        <p:spPr>
          <a:xfrm>
            <a:off x="8429625" y="344805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Quanto há de Heliar e Moura no cliente?</a:t>
            </a: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4D2FB0A7-52B3-424D-9E30-C4E5DD6DBC04}"/>
              </a:ext>
            </a:extLst>
          </p:cNvPr>
          <p:cNvSpPr>
            <a:spLocks noGrp="1"/>
          </p:cNvSpPr>
          <p:nvPr/>
        </p:nvSpPr>
        <p:spPr>
          <a:xfrm>
            <a:off x="7962900" y="4124325"/>
            <a:ext cx="3143250" cy="0"/>
          </a:xfrm>
          <a:prstGeom prst="line">
            <a:avLst/>
          </a:prstGeom>
          <a:noFill/>
          <a:ln w="9525">
            <a:solidFill>
              <a:srgbClr val="3942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3A0E15E-8FA1-4AD3-8357-9D31046314DF}"/>
              </a:ext>
            </a:extLst>
          </p:cNvPr>
          <p:cNvSpPr>
            <a:spLocks noGrp="1"/>
          </p:cNvSpPr>
          <p:nvPr/>
        </p:nvSpPr>
        <p:spPr>
          <a:xfrm>
            <a:off x="7962900" y="44672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00A651"/>
                </a:solidFill>
              </a:defRPr>
            </a:pPr>
            <a:r>
              <a:rPr sz="975" b="1">
                <a:solidFill>
                  <a:srgbClr val="00A651"/>
                </a:solidFill>
              </a:rPr>
              <a:t>04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8BFBCF0-A89D-4E26-91B0-C340C4915B5F}"/>
              </a:ext>
            </a:extLst>
          </p:cNvPr>
          <p:cNvSpPr>
            <a:spLocks noGrp="1"/>
          </p:cNvSpPr>
          <p:nvPr/>
        </p:nvSpPr>
        <p:spPr>
          <a:xfrm>
            <a:off x="8429625" y="4429125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Que ações, preços e sucata a visita revelou?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59E6B08-957C-4545-A383-E622902BD8C7}"/>
              </a:ext>
            </a:extLst>
          </p:cNvPr>
          <p:cNvSpPr>
            <a:spLocks noGrp="1"/>
          </p:cNvSpPr>
          <p:nvPr/>
        </p:nvSpPr>
        <p:spPr>
          <a:xfrm>
            <a:off x="704850" y="3390900"/>
            <a:ext cx="6076950" cy="171450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2470FF5-F537-4A8D-B20D-A82E605A68AF}"/>
              </a:ext>
            </a:extLst>
          </p:cNvPr>
          <p:cNvSpPr>
            <a:spLocks noGrp="1"/>
          </p:cNvSpPr>
          <p:nvPr/>
        </p:nvSpPr>
        <p:spPr>
          <a:xfrm>
            <a:off x="981075" y="36576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00783B"/>
                </a:solidFill>
              </a:defRPr>
            </a:pPr>
            <a:r>
              <a:rPr sz="1350" b="1">
                <a:solidFill>
                  <a:srgbClr val="00783B"/>
                </a:solidFill>
              </a:rPr>
              <a:t>O custo invisível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8CD3A4B-D46C-4132-9174-6A744F643833}"/>
              </a:ext>
            </a:extLst>
          </p:cNvPr>
          <p:cNvSpPr>
            <a:spLocks noGrp="1"/>
          </p:cNvSpPr>
          <p:nvPr/>
        </p:nvSpPr>
        <p:spPr>
          <a:xfrm>
            <a:off x="981075" y="4048125"/>
            <a:ext cx="5334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21512"/>
                </a:solidFill>
              </a:defRPr>
            </a:pPr>
            <a:r>
              <a:rPr sz="1800" b="1">
                <a:solidFill>
                  <a:srgbClr val="121512"/>
                </a:solidFill>
              </a:rPr>
              <a:t>Sem dados padronizados, fica difícil medir execução, reagir à concorrência e transformar sucata em agenda logística.</a:t>
            </a:r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9ABF522E-941A-4B95-B1BB-BB160FBF0CC0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5749963-1851-45C4-8618-FB60979682A4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00783B"/>
                </a:solidFill>
              </a:defRPr>
            </a:pPr>
            <a:r>
              <a:rPr sz="750" b="1">
                <a:solidFill>
                  <a:srgbClr val="00783B"/>
                </a:solidFill>
              </a:rPr>
              <a:t>CIRNE ROTAS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BDD14F1-C766-48A4-8FBE-1A61069D0655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667168"/>
                </a:solidFill>
              </a:defRPr>
            </a:pPr>
            <a:r>
              <a:rPr sz="750" b="1">
                <a:solidFill>
                  <a:srgbClr val="66716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6790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title">
            <a:extLst>
              <a:ext uri="{FF2B5EF4-FFF2-40B4-BE49-F238E27FC236}">
                <a16:creationId xmlns:a16="http://schemas.microsoft.com/office/drawing/2014/main" id="{3B9E7BA6-5F5C-4398-B6CF-9DA821B1990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O piloto responde a três perguntas — e só isso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95A9FC0-6F51-4C68-8902-15722840A66C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168"/>
                </a:solidFill>
              </a:defRPr>
            </a:pPr>
            <a:r>
              <a:rPr sz="1275" b="0">
                <a:solidFill>
                  <a:srgbClr val="667168"/>
                </a:solidFill>
              </a:rPr>
              <a:t>A simplificação concentra o produto no que gera disciplina e inteligência comercial.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AADE78A-B547-4E22-9D7B-83060E983B50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3371850" cy="2952750"/>
          </a:xfrm>
          <a:prstGeom prst="roundRect">
            <a:avLst>
              <a:gd name="adj" fmla="val 7742"/>
            </a:avLst>
          </a:prstGeom>
          <a:solidFill>
            <a:srgbClr val="F3F6F4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62FF556-2A80-4048-9786-4878443CE13E}"/>
              </a:ext>
            </a:extLst>
          </p:cNvPr>
          <p:cNvSpPr>
            <a:spLocks noGrp="1"/>
          </p:cNvSpPr>
          <p:nvPr/>
        </p:nvSpPr>
        <p:spPr>
          <a:xfrm>
            <a:off x="952500" y="2171700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0A65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7ECAFD6-31FF-41BE-A956-EB9FCA6A1E8C}"/>
              </a:ext>
            </a:extLst>
          </p:cNvPr>
          <p:cNvSpPr>
            <a:spLocks noGrp="1"/>
          </p:cNvSpPr>
          <p:nvPr/>
        </p:nvSpPr>
        <p:spPr>
          <a:xfrm>
            <a:off x="952500" y="2257425"/>
            <a:ext cx="457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9A5BDE8-FE7E-4C96-B447-7AF9BBB5BAF2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2809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121512"/>
                </a:solidFill>
              </a:defRPr>
            </a:pPr>
            <a:r>
              <a:rPr sz="2025" b="1">
                <a:solidFill>
                  <a:srgbClr val="121512"/>
                </a:solidFill>
              </a:rPr>
              <a:t>Onde visitar?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70F7C91-FEFE-4037-AAE4-565028AF858E}"/>
              </a:ext>
            </a:extLst>
          </p:cNvPr>
          <p:cNvSpPr>
            <a:spLocks noGrp="1"/>
          </p:cNvSpPr>
          <p:nvPr/>
        </p:nvSpPr>
        <p:spPr>
          <a:xfrm>
            <a:off x="952500" y="3705225"/>
            <a:ext cx="280987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67168"/>
                </a:solidFill>
              </a:defRPr>
            </a:pPr>
            <a:r>
              <a:rPr sz="1350" b="0">
                <a:solidFill>
                  <a:srgbClr val="667168"/>
                </a:solidFill>
              </a:rPr>
              <a:t>O gestor publica a lista diária de clientes.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9D00862-FF8D-4EA6-B84B-98FA9163005E}"/>
              </a:ext>
            </a:extLst>
          </p:cNvPr>
          <p:cNvSpPr>
            <a:spLocks noGrp="1"/>
          </p:cNvSpPr>
          <p:nvPr/>
        </p:nvSpPr>
        <p:spPr>
          <a:xfrm>
            <a:off x="4362450" y="1905000"/>
            <a:ext cx="3371850" cy="2952750"/>
          </a:xfrm>
          <a:prstGeom prst="roundRect">
            <a:avLst>
              <a:gd name="adj" fmla="val 7742"/>
            </a:avLst>
          </a:prstGeom>
          <a:solidFill>
            <a:srgbClr val="121512"/>
          </a:solidFill>
          <a:ln w="9525">
            <a:solidFill>
              <a:srgbClr val="12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D2DFC1D-BF2C-4C63-A14E-EE4D45ABAAE1}"/>
              </a:ext>
            </a:extLst>
          </p:cNvPr>
          <p:cNvSpPr>
            <a:spLocks noGrp="1"/>
          </p:cNvSpPr>
          <p:nvPr/>
        </p:nvSpPr>
        <p:spPr>
          <a:xfrm>
            <a:off x="4629150" y="2171700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79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A6F6DDD-05D4-4548-B7BB-E5DA1ADCDCF0}"/>
              </a:ext>
            </a:extLst>
          </p:cNvPr>
          <p:cNvSpPr>
            <a:spLocks noGrp="1"/>
          </p:cNvSpPr>
          <p:nvPr/>
        </p:nvSpPr>
        <p:spPr>
          <a:xfrm>
            <a:off x="4629150" y="2257425"/>
            <a:ext cx="457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12EEF22-D3C1-4D3D-9C9F-409473D01C10}"/>
              </a:ext>
            </a:extLst>
          </p:cNvPr>
          <p:cNvSpPr>
            <a:spLocks noGrp="1"/>
          </p:cNvSpPr>
          <p:nvPr/>
        </p:nvSpPr>
        <p:spPr>
          <a:xfrm>
            <a:off x="4629150" y="2895600"/>
            <a:ext cx="2809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O que foi executado?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8387885-D7AD-4FD1-B7A7-25CF41163EFA}"/>
              </a:ext>
            </a:extLst>
          </p:cNvPr>
          <p:cNvSpPr>
            <a:spLocks noGrp="1"/>
          </p:cNvSpPr>
          <p:nvPr/>
        </p:nvSpPr>
        <p:spPr>
          <a:xfrm>
            <a:off x="4629150" y="3705225"/>
            <a:ext cx="280987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CBD4CE"/>
                </a:solidFill>
              </a:defRPr>
            </a:pPr>
            <a:r>
              <a:rPr sz="1350" b="0">
                <a:solidFill>
                  <a:srgbClr val="CBD4CE"/>
                </a:solidFill>
              </a:rPr>
              <a:t>O vendedor navega, registra GPS e conclui a visita.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F7F6155-8962-4A3E-9D61-E9540FE0C0E5}"/>
              </a:ext>
            </a:extLst>
          </p:cNvPr>
          <p:cNvSpPr>
            <a:spLocks noGrp="1"/>
          </p:cNvSpPr>
          <p:nvPr/>
        </p:nvSpPr>
        <p:spPr>
          <a:xfrm>
            <a:off x="8039100" y="1905000"/>
            <a:ext cx="3371850" cy="2952750"/>
          </a:xfrm>
          <a:prstGeom prst="roundRect">
            <a:avLst>
              <a:gd name="adj" fmla="val 7742"/>
            </a:avLst>
          </a:prstGeom>
          <a:solidFill>
            <a:srgbClr val="F3F6F4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34250C6-E5E4-40C9-97E7-4547AE80734C}"/>
              </a:ext>
            </a:extLst>
          </p:cNvPr>
          <p:cNvSpPr>
            <a:spLocks noGrp="1"/>
          </p:cNvSpPr>
          <p:nvPr/>
        </p:nvSpPr>
        <p:spPr>
          <a:xfrm>
            <a:off x="8305800" y="2171700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0A65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BE704F7-7F6D-46CC-AE1D-665A65B02AE6}"/>
              </a:ext>
            </a:extLst>
          </p:cNvPr>
          <p:cNvSpPr>
            <a:spLocks noGrp="1"/>
          </p:cNvSpPr>
          <p:nvPr/>
        </p:nvSpPr>
        <p:spPr>
          <a:xfrm>
            <a:off x="8305800" y="2257425"/>
            <a:ext cx="457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B15553E-341C-40E6-9977-C6F6FE9C56D1}"/>
              </a:ext>
            </a:extLst>
          </p:cNvPr>
          <p:cNvSpPr>
            <a:spLocks noGrp="1"/>
          </p:cNvSpPr>
          <p:nvPr/>
        </p:nvSpPr>
        <p:spPr>
          <a:xfrm>
            <a:off x="8305800" y="2895600"/>
            <a:ext cx="2809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121512"/>
                </a:solidFill>
              </a:defRPr>
            </a:pPr>
            <a:r>
              <a:rPr sz="2025" b="1">
                <a:solidFill>
                  <a:srgbClr val="121512"/>
                </a:solidFill>
              </a:rPr>
              <a:t>O que o mercado mostrou?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CD3F914-FA4A-4583-BADB-E9623CCEDDE7}"/>
              </a:ext>
            </a:extLst>
          </p:cNvPr>
          <p:cNvSpPr>
            <a:spLocks noGrp="1"/>
          </p:cNvSpPr>
          <p:nvPr/>
        </p:nvSpPr>
        <p:spPr>
          <a:xfrm>
            <a:off x="8305800" y="3705225"/>
            <a:ext cx="280987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67168"/>
                </a:solidFill>
              </a:defRPr>
            </a:pPr>
            <a:r>
              <a:rPr sz="1350" b="0">
                <a:solidFill>
                  <a:srgbClr val="667168"/>
                </a:solidFill>
              </a:rPr>
              <a:t>Estoque, preços, ações da concorrência, sucata e resultado comercial.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8C9B2DF-D80F-46E7-90EC-BD4EE3E194AA}"/>
              </a:ext>
            </a:extLst>
          </p:cNvPr>
          <p:cNvSpPr>
            <a:spLocks noGrp="1"/>
          </p:cNvSpPr>
          <p:nvPr/>
        </p:nvSpPr>
        <p:spPr>
          <a:xfrm>
            <a:off x="1600200" y="5229225"/>
            <a:ext cx="8991600" cy="733425"/>
          </a:xfrm>
          <a:prstGeom prst="roundRect">
            <a:avLst>
              <a:gd name="adj" fmla="val 23377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C6EE313-10A3-4D6D-9204-85E3D870E8D3}"/>
              </a:ext>
            </a:extLst>
          </p:cNvPr>
          <p:cNvSpPr>
            <a:spLocks noGrp="1"/>
          </p:cNvSpPr>
          <p:nvPr/>
        </p:nvSpPr>
        <p:spPr>
          <a:xfrm>
            <a:off x="1857375" y="5419725"/>
            <a:ext cx="847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025" b="1">
                <a:solidFill>
                  <a:srgbClr val="06331F"/>
                </a:solidFill>
              </a:defRPr>
            </a:pPr>
            <a:r>
              <a:rPr sz="2025" b="1">
                <a:solidFill>
                  <a:srgbClr val="06331F"/>
                </a:solidFill>
              </a:rPr>
              <a:t>Menos funcionalidades. Mais disciplina e informação útil.</a:t>
            </a:r>
          </a:p>
        </p:txBody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B119157C-C9C9-4FAC-9014-93BEBA797910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A51800F-C204-404E-BA1E-BE5D439B948F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00783B"/>
                </a:solidFill>
              </a:defRPr>
            </a:pPr>
            <a:r>
              <a:rPr sz="750" b="1">
                <a:solidFill>
                  <a:srgbClr val="00783B"/>
                </a:solidFill>
              </a:rPr>
              <a:t>CIRNE ROTAS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FE37DE7-A9C7-4D54-87A1-5D8314778E30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667168"/>
                </a:solidFill>
              </a:defRPr>
            </a:pPr>
            <a:r>
              <a:rPr sz="750" b="1">
                <a:solidFill>
                  <a:srgbClr val="66716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1141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E23168F5-FEBD-4ABB-96CF-015B97E00A4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Um fluxo curto, do planejamento à decisão comercial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5A8E406-B576-4F6E-B0BF-9A9DE44AFDB7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D7E9DE"/>
                </a:solidFill>
              </a:defRPr>
            </a:pPr>
            <a:r>
              <a:rPr sz="1275" b="0">
                <a:solidFill>
                  <a:srgbClr val="D7E9DE"/>
                </a:solidFill>
              </a:rPr>
              <a:t>Três momentos conectam gestão, vendedor, mercado e logística.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83303510-FC4B-4F0B-88F8-4AED2AE00585}"/>
              </a:ext>
            </a:extLst>
          </p:cNvPr>
          <p:cNvSpPr>
            <a:spLocks noGrp="1"/>
          </p:cNvSpPr>
          <p:nvPr/>
        </p:nvSpPr>
        <p:spPr>
          <a:xfrm>
            <a:off x="1457325" y="3290887"/>
            <a:ext cx="8096250" cy="0"/>
          </a:xfrm>
          <a:prstGeom prst="line">
            <a:avLst/>
          </a:prstGeom>
          <a:noFill/>
          <a:ln w="38100">
            <a:solidFill>
              <a:srgbClr val="4D71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C551F77-B368-4DE0-BBDB-107D23813521}"/>
              </a:ext>
            </a:extLst>
          </p:cNvPr>
          <p:cNvSpPr>
            <a:spLocks noGrp="1"/>
          </p:cNvSpPr>
          <p:nvPr/>
        </p:nvSpPr>
        <p:spPr>
          <a:xfrm>
            <a:off x="552450" y="2005012"/>
            <a:ext cx="3333750" cy="3143250"/>
          </a:xfrm>
          <a:prstGeom prst="roundRect">
            <a:avLst>
              <a:gd name="adj" fmla="val 6667"/>
            </a:avLst>
          </a:prstGeom>
          <a:solidFill>
            <a:srgbClr val="0D482C"/>
          </a:solidFill>
          <a:ln w="9525">
            <a:solidFill>
              <a:srgbClr val="2E6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9115A2D-20E2-4A4D-927E-808C8BDD2E84}"/>
              </a:ext>
            </a:extLst>
          </p:cNvPr>
          <p:cNvSpPr>
            <a:spLocks noGrp="1"/>
          </p:cNvSpPr>
          <p:nvPr/>
        </p:nvSpPr>
        <p:spPr>
          <a:xfrm>
            <a:off x="1905000" y="3014662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53C953E-BBFE-408B-9A04-3C857C6C990F}"/>
              </a:ext>
            </a:extLst>
          </p:cNvPr>
          <p:cNvSpPr>
            <a:spLocks noGrp="1"/>
          </p:cNvSpPr>
          <p:nvPr/>
        </p:nvSpPr>
        <p:spPr>
          <a:xfrm>
            <a:off x="1905000" y="3148012"/>
            <a:ext cx="62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D9710D6-80AD-4210-8C5C-96FB036AD228}"/>
              </a:ext>
            </a:extLst>
          </p:cNvPr>
          <p:cNvSpPr>
            <a:spLocks noGrp="1"/>
          </p:cNvSpPr>
          <p:nvPr/>
        </p:nvSpPr>
        <p:spPr>
          <a:xfrm>
            <a:off x="819150" y="2290762"/>
            <a:ext cx="2800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8BE5B1"/>
                </a:solidFill>
              </a:defRPr>
            </a:pPr>
            <a:r>
              <a:rPr sz="900" b="1">
                <a:solidFill>
                  <a:srgbClr val="8BE5B1"/>
                </a:solidFill>
              </a:rPr>
              <a:t>GESTOR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78A3A1C-2E2B-4741-B75C-63A11F1EB2F9}"/>
              </a:ext>
            </a:extLst>
          </p:cNvPr>
          <p:cNvSpPr>
            <a:spLocks noGrp="1"/>
          </p:cNvSpPr>
          <p:nvPr/>
        </p:nvSpPr>
        <p:spPr>
          <a:xfrm>
            <a:off x="819150" y="3843337"/>
            <a:ext cx="2800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Publica a rota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48DFA10-4D64-4208-941A-E9C664E367E8}"/>
              </a:ext>
            </a:extLst>
          </p:cNvPr>
          <p:cNvSpPr>
            <a:spLocks noGrp="1"/>
          </p:cNvSpPr>
          <p:nvPr/>
        </p:nvSpPr>
        <p:spPr>
          <a:xfrm>
            <a:off x="952500" y="4395787"/>
            <a:ext cx="2533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C8DED1"/>
                </a:solidFill>
              </a:defRPr>
            </a:pPr>
            <a:r>
              <a:rPr sz="1200" b="0">
                <a:solidFill>
                  <a:srgbClr val="C8DED1"/>
                </a:solidFill>
              </a:rPr>
              <a:t>Seleciona data, vendedor e clientes.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6117F01-8C6E-4524-A70D-03CF7E58F0EC}"/>
              </a:ext>
            </a:extLst>
          </p:cNvPr>
          <p:cNvSpPr>
            <a:spLocks noGrp="1"/>
          </p:cNvSpPr>
          <p:nvPr/>
        </p:nvSpPr>
        <p:spPr>
          <a:xfrm>
            <a:off x="4362450" y="2005012"/>
            <a:ext cx="3333750" cy="3143250"/>
          </a:xfrm>
          <a:prstGeom prst="roundRect">
            <a:avLst>
              <a:gd name="adj" fmla="val 6667"/>
            </a:avLst>
          </a:prstGeom>
          <a:solidFill>
            <a:srgbClr val="0D482C"/>
          </a:solidFill>
          <a:ln w="9525">
            <a:solidFill>
              <a:srgbClr val="2E6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D8B5321-3849-47FF-AF34-A7AA59B36377}"/>
              </a:ext>
            </a:extLst>
          </p:cNvPr>
          <p:cNvSpPr>
            <a:spLocks noGrp="1"/>
          </p:cNvSpPr>
          <p:nvPr/>
        </p:nvSpPr>
        <p:spPr>
          <a:xfrm>
            <a:off x="5715000" y="3014662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FF79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2411A70-37F9-4FA9-837F-544817A0F9CF}"/>
              </a:ext>
            </a:extLst>
          </p:cNvPr>
          <p:cNvSpPr>
            <a:spLocks noGrp="1"/>
          </p:cNvSpPr>
          <p:nvPr/>
        </p:nvSpPr>
        <p:spPr>
          <a:xfrm>
            <a:off x="5715000" y="3148012"/>
            <a:ext cx="62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C11BFCB-EA7F-4152-AB83-9F552600F727}"/>
              </a:ext>
            </a:extLst>
          </p:cNvPr>
          <p:cNvSpPr>
            <a:spLocks noGrp="1"/>
          </p:cNvSpPr>
          <p:nvPr/>
        </p:nvSpPr>
        <p:spPr>
          <a:xfrm>
            <a:off x="4629150" y="2290762"/>
            <a:ext cx="2800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FF7900"/>
                </a:solidFill>
              </a:defRPr>
            </a:pPr>
            <a:r>
              <a:rPr sz="900" b="1">
                <a:solidFill>
                  <a:srgbClr val="FF7900"/>
                </a:solidFill>
              </a:rPr>
              <a:t>VENDEDOR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5718929-A9B8-4457-B5BC-1A8D281C3740}"/>
              </a:ext>
            </a:extLst>
          </p:cNvPr>
          <p:cNvSpPr>
            <a:spLocks noGrp="1"/>
          </p:cNvSpPr>
          <p:nvPr/>
        </p:nvSpPr>
        <p:spPr>
          <a:xfrm>
            <a:off x="4629150" y="3843337"/>
            <a:ext cx="2800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Executa a visita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FBBE512-E0DE-42CC-96E9-335C6D6744DD}"/>
              </a:ext>
            </a:extLst>
          </p:cNvPr>
          <p:cNvSpPr>
            <a:spLocks noGrp="1"/>
          </p:cNvSpPr>
          <p:nvPr/>
        </p:nvSpPr>
        <p:spPr>
          <a:xfrm>
            <a:off x="4762500" y="4395787"/>
            <a:ext cx="2533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C8DED1"/>
                </a:solidFill>
              </a:defRPr>
            </a:pPr>
            <a:r>
              <a:rPr sz="1200" b="0">
                <a:solidFill>
                  <a:srgbClr val="C8DED1"/>
                </a:solidFill>
              </a:rPr>
              <a:t>Registra estoque, concorrência, sucata e resultado.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C9D1546-633D-458B-82C2-62DF15F201AA}"/>
              </a:ext>
            </a:extLst>
          </p:cNvPr>
          <p:cNvSpPr>
            <a:spLocks noGrp="1"/>
          </p:cNvSpPr>
          <p:nvPr/>
        </p:nvSpPr>
        <p:spPr>
          <a:xfrm>
            <a:off x="8172450" y="2005012"/>
            <a:ext cx="3333750" cy="3143250"/>
          </a:xfrm>
          <a:prstGeom prst="roundRect">
            <a:avLst>
              <a:gd name="adj" fmla="val 6667"/>
            </a:avLst>
          </a:prstGeom>
          <a:solidFill>
            <a:srgbClr val="0D482C"/>
          </a:solidFill>
          <a:ln w="9525">
            <a:solidFill>
              <a:srgbClr val="2E6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C14CF93-D87D-4475-AA2B-F9E8740E3269}"/>
              </a:ext>
            </a:extLst>
          </p:cNvPr>
          <p:cNvSpPr>
            <a:spLocks noGrp="1"/>
          </p:cNvSpPr>
          <p:nvPr/>
        </p:nvSpPr>
        <p:spPr>
          <a:xfrm>
            <a:off x="9525000" y="3014662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24FE27C-D0B5-4525-A798-7EFCBAD8425E}"/>
              </a:ext>
            </a:extLst>
          </p:cNvPr>
          <p:cNvSpPr>
            <a:spLocks noGrp="1"/>
          </p:cNvSpPr>
          <p:nvPr/>
        </p:nvSpPr>
        <p:spPr>
          <a:xfrm>
            <a:off x="9525000" y="3148012"/>
            <a:ext cx="62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6449E86-26E5-4C4D-B037-472801292FA7}"/>
              </a:ext>
            </a:extLst>
          </p:cNvPr>
          <p:cNvSpPr>
            <a:spLocks noGrp="1"/>
          </p:cNvSpPr>
          <p:nvPr/>
        </p:nvSpPr>
        <p:spPr>
          <a:xfrm>
            <a:off x="8439150" y="2290762"/>
            <a:ext cx="2800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8BE5B1"/>
                </a:solidFill>
              </a:defRPr>
            </a:pPr>
            <a:r>
              <a:rPr sz="900" b="1">
                <a:solidFill>
                  <a:srgbClr val="8BE5B1"/>
                </a:solidFill>
              </a:rPr>
              <a:t>GESTÃO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B1763A6-495E-496F-97FB-B345CD844A61}"/>
              </a:ext>
            </a:extLst>
          </p:cNvPr>
          <p:cNvSpPr>
            <a:spLocks noGrp="1"/>
          </p:cNvSpPr>
          <p:nvPr/>
        </p:nvSpPr>
        <p:spPr>
          <a:xfrm>
            <a:off x="8439150" y="3843337"/>
            <a:ext cx="2800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Transforma dado em ação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FBA9E03-843E-4ED0-8152-9ABEE388D876}"/>
              </a:ext>
            </a:extLst>
          </p:cNvPr>
          <p:cNvSpPr>
            <a:spLocks noGrp="1"/>
          </p:cNvSpPr>
          <p:nvPr/>
        </p:nvSpPr>
        <p:spPr>
          <a:xfrm>
            <a:off x="8572500" y="4395787"/>
            <a:ext cx="2533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C8DED1"/>
                </a:solidFill>
              </a:defRPr>
            </a:pPr>
            <a:r>
              <a:rPr sz="1200" b="0">
                <a:solidFill>
                  <a:srgbClr val="C8DED1"/>
                </a:solidFill>
              </a:rPr>
              <a:t>Acompanha execução, mercado, coleta e agenda logística.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82E75D27-1DFA-48D6-9F6F-2DF1D0A39E4C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315B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346F92B-07E3-4D99-8409-6696FA6958FA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C8DED1"/>
                </a:solidFill>
              </a:defRPr>
            </a:pPr>
            <a:r>
              <a:rPr sz="750" b="1">
                <a:solidFill>
                  <a:srgbClr val="C8DED1"/>
                </a:solidFill>
              </a:rPr>
              <a:t>CIRNE ROTAS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4D10F8E-B29D-4468-ABEA-BD275827C958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C8DED1"/>
                </a:solidFill>
              </a:defRPr>
            </a:pPr>
            <a:r>
              <a:rPr sz="750" b="1">
                <a:solidFill>
                  <a:srgbClr val="C8DED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0883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-title">
            <a:extLst>
              <a:ext uri="{FF2B5EF4-FFF2-40B4-BE49-F238E27FC236}">
                <a16:creationId xmlns:a16="http://schemas.microsoft.com/office/drawing/2014/main" id="{89A630CE-246B-4C4B-BB3B-2A7458E4BAE4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Design pensado para uso rápido na rua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44B8F17-B5E0-4C34-8336-9570BBF8DB96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168"/>
                </a:solidFill>
              </a:defRPr>
            </a:pPr>
            <a:r>
              <a:rPr sz="1275" b="0">
                <a:solidFill>
                  <a:srgbClr val="667168"/>
                </a:solidFill>
              </a:rPr>
              <a:t>A interface combina identidade Cirne com os princípios de usabilidade definidos no PRD.</a:t>
            </a:r>
          </a:p>
        </p:txBody>
      </p:sp>
      <p:pic>
        <p:nvPicPr>
          <p:cNvPr id="41" name="Imagem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1129" y="1438275"/>
            <a:ext cx="2351617" cy="4810125"/>
          </a:xfrm>
          <a:prstGeom prst="roundRect">
            <a:avLst>
              <a:gd name="adj" fmla="val 6349"/>
            </a:avLst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A91AA8E-739F-4DD4-8524-B00A740E3EE5}"/>
              </a:ext>
            </a:extLst>
          </p:cNvPr>
          <p:cNvSpPr>
            <a:spLocks noGrp="1"/>
          </p:cNvSpPr>
          <p:nvPr/>
        </p:nvSpPr>
        <p:spPr>
          <a:xfrm>
            <a:off x="4095750" y="1609725"/>
            <a:ext cx="3524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00783B"/>
                </a:solidFill>
              </a:defRPr>
            </a:pPr>
            <a:r>
              <a:rPr sz="900" b="1">
                <a:solidFill>
                  <a:srgbClr val="00783B"/>
                </a:solidFill>
              </a:rPr>
              <a:t>IDENTIDADE VISUAL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B03B042-D322-4328-AB88-B43375AF8C11}"/>
              </a:ext>
            </a:extLst>
          </p:cNvPr>
          <p:cNvSpPr>
            <a:spLocks noGrp="1"/>
          </p:cNvSpPr>
          <p:nvPr/>
        </p:nvSpPr>
        <p:spPr>
          <a:xfrm>
            <a:off x="4095750" y="2000250"/>
            <a:ext cx="533400" cy="533400"/>
          </a:xfrm>
          <a:prstGeom prst="roundRect">
            <a:avLst>
              <a:gd name="adj" fmla="val 26786"/>
            </a:avLst>
          </a:prstGeom>
          <a:solidFill>
            <a:srgbClr val="00A651"/>
          </a:solidFill>
          <a:ln w="9525">
            <a:solidFill>
              <a:srgbClr val="00A6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D741ED6-B2E7-4AA2-993E-D00B1BA01F41}"/>
              </a:ext>
            </a:extLst>
          </p:cNvPr>
          <p:cNvSpPr>
            <a:spLocks noGrp="1"/>
          </p:cNvSpPr>
          <p:nvPr/>
        </p:nvSpPr>
        <p:spPr>
          <a:xfrm>
            <a:off x="4781550" y="204787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121512"/>
                </a:solidFill>
              </a:defRPr>
            </a:pPr>
            <a:r>
              <a:rPr sz="1200" b="1">
                <a:solidFill>
                  <a:srgbClr val="121512"/>
                </a:solidFill>
              </a:rPr>
              <a:t>Verde Cirne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03AFB0A-7507-4CD9-9663-A2F18064D855}"/>
              </a:ext>
            </a:extLst>
          </p:cNvPr>
          <p:cNvSpPr>
            <a:spLocks noGrp="1"/>
          </p:cNvSpPr>
          <p:nvPr/>
        </p:nvSpPr>
        <p:spPr>
          <a:xfrm>
            <a:off x="4781550" y="23050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667168"/>
                </a:solidFill>
              </a:defRPr>
            </a:pPr>
            <a:r>
              <a:rPr sz="900" b="0">
                <a:solidFill>
                  <a:srgbClr val="667168"/>
                </a:solidFill>
              </a:rPr>
              <a:t>#00A651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87488ED-1FD7-4754-85EB-4CB9A17A5C72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533400" cy="533400"/>
          </a:xfrm>
          <a:prstGeom prst="roundRect">
            <a:avLst>
              <a:gd name="adj" fmla="val 26786"/>
            </a:avLst>
          </a:prstGeom>
          <a:solidFill>
            <a:srgbClr val="121512"/>
          </a:solidFill>
          <a:ln w="9525">
            <a:solidFill>
              <a:srgbClr val="1215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D480CC7-8ED6-4F44-A59D-5740E5C38753}"/>
              </a:ext>
            </a:extLst>
          </p:cNvPr>
          <p:cNvSpPr>
            <a:spLocks noGrp="1"/>
          </p:cNvSpPr>
          <p:nvPr/>
        </p:nvSpPr>
        <p:spPr>
          <a:xfrm>
            <a:off x="7353300" y="204787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121512"/>
                </a:solidFill>
              </a:defRPr>
            </a:pPr>
            <a:r>
              <a:rPr sz="1200" b="1">
                <a:solidFill>
                  <a:srgbClr val="121512"/>
                </a:solidFill>
              </a:rPr>
              <a:t>Preto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70CFC60-3E50-4BE2-9E15-D1E0ED78AA25}"/>
              </a:ext>
            </a:extLst>
          </p:cNvPr>
          <p:cNvSpPr>
            <a:spLocks noGrp="1"/>
          </p:cNvSpPr>
          <p:nvPr/>
        </p:nvSpPr>
        <p:spPr>
          <a:xfrm>
            <a:off x="7353300" y="23050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667168"/>
                </a:solidFill>
              </a:defRPr>
            </a:pPr>
            <a:r>
              <a:rPr sz="900" b="0">
                <a:solidFill>
                  <a:srgbClr val="667168"/>
                </a:solidFill>
              </a:rPr>
              <a:t>#121512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E807A27-6C89-46E5-99D7-83035D303722}"/>
              </a:ext>
            </a:extLst>
          </p:cNvPr>
          <p:cNvSpPr>
            <a:spLocks noGrp="1"/>
          </p:cNvSpPr>
          <p:nvPr/>
        </p:nvSpPr>
        <p:spPr>
          <a:xfrm>
            <a:off x="4095750" y="2876550"/>
            <a:ext cx="533400" cy="533400"/>
          </a:xfrm>
          <a:prstGeom prst="roundRect">
            <a:avLst>
              <a:gd name="adj" fmla="val 26786"/>
            </a:avLst>
          </a:prstGeom>
          <a:solidFill>
            <a:srgbClr val="FF7900"/>
          </a:solidFill>
          <a:ln w="9525">
            <a:solidFill>
              <a:srgbClr val="FF79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15F6822-A524-4410-8C85-95F1851C3717}"/>
              </a:ext>
            </a:extLst>
          </p:cNvPr>
          <p:cNvSpPr>
            <a:spLocks noGrp="1"/>
          </p:cNvSpPr>
          <p:nvPr/>
        </p:nvSpPr>
        <p:spPr>
          <a:xfrm>
            <a:off x="4781550" y="292417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121512"/>
                </a:solidFill>
              </a:defRPr>
            </a:pPr>
            <a:r>
              <a:rPr sz="1200" b="1">
                <a:solidFill>
                  <a:srgbClr val="121512"/>
                </a:solidFill>
              </a:rPr>
              <a:t>Ação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F310759-0777-454C-A2FA-B1E9DEA3625E}"/>
              </a:ext>
            </a:extLst>
          </p:cNvPr>
          <p:cNvSpPr>
            <a:spLocks noGrp="1"/>
          </p:cNvSpPr>
          <p:nvPr/>
        </p:nvSpPr>
        <p:spPr>
          <a:xfrm>
            <a:off x="4781550" y="3181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667168"/>
                </a:solidFill>
              </a:defRPr>
            </a:pPr>
            <a:r>
              <a:rPr sz="900" b="0">
                <a:solidFill>
                  <a:srgbClr val="667168"/>
                </a:solidFill>
              </a:rPr>
              <a:t>#FF7900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5D9D4C0-0C36-4FAE-B7D9-836818C3C5FA}"/>
              </a:ext>
            </a:extLst>
          </p:cNvPr>
          <p:cNvSpPr>
            <a:spLocks noGrp="1"/>
          </p:cNvSpPr>
          <p:nvPr/>
        </p:nvSpPr>
        <p:spPr>
          <a:xfrm>
            <a:off x="6667500" y="2876550"/>
            <a:ext cx="533400" cy="533400"/>
          </a:xfrm>
          <a:prstGeom prst="roundRect">
            <a:avLst>
              <a:gd name="adj" fmla="val 26786"/>
            </a:avLst>
          </a:prstGeom>
          <a:solidFill>
            <a:srgbClr val="F3F6F4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51E371D-ED9A-4F75-BE2D-6D1B6ED4085A}"/>
              </a:ext>
            </a:extLst>
          </p:cNvPr>
          <p:cNvSpPr>
            <a:spLocks noGrp="1"/>
          </p:cNvSpPr>
          <p:nvPr/>
        </p:nvSpPr>
        <p:spPr>
          <a:xfrm>
            <a:off x="7353300" y="292417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121512"/>
                </a:solidFill>
              </a:defRPr>
            </a:pPr>
            <a:r>
              <a:rPr sz="1200" b="1">
                <a:solidFill>
                  <a:srgbClr val="121512"/>
                </a:solidFill>
              </a:rPr>
              <a:t>Superfície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1DE0AEB-7346-4871-804C-A3A79F5305EC}"/>
              </a:ext>
            </a:extLst>
          </p:cNvPr>
          <p:cNvSpPr>
            <a:spLocks noGrp="1"/>
          </p:cNvSpPr>
          <p:nvPr/>
        </p:nvSpPr>
        <p:spPr>
          <a:xfrm>
            <a:off x="7353300" y="3181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667168"/>
                </a:solidFill>
              </a:defRPr>
            </a:pPr>
            <a:r>
              <a:rPr sz="900" b="0">
                <a:solidFill>
                  <a:srgbClr val="667168"/>
                </a:solidFill>
              </a:rPr>
              <a:t>#F3F6F4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A92FB3C-C8FB-4EDC-8667-1426E63F849E}"/>
              </a:ext>
            </a:extLst>
          </p:cNvPr>
          <p:cNvSpPr>
            <a:spLocks noGrp="1"/>
          </p:cNvSpPr>
          <p:nvPr/>
        </p:nvSpPr>
        <p:spPr>
          <a:xfrm>
            <a:off x="4095750" y="4000500"/>
            <a:ext cx="428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00783B"/>
                </a:solidFill>
              </a:defRPr>
            </a:pPr>
            <a:r>
              <a:rPr sz="900" b="1">
                <a:solidFill>
                  <a:srgbClr val="00783B"/>
                </a:solidFill>
              </a:rPr>
              <a:t>PRINCÍPIOS DE EXPERIÊNCIA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6A104D1-3559-4B33-B3CC-A2A502A0A556}"/>
              </a:ext>
            </a:extLst>
          </p:cNvPr>
          <p:cNvSpPr>
            <a:spLocks noGrp="1"/>
          </p:cNvSpPr>
          <p:nvPr/>
        </p:nvSpPr>
        <p:spPr>
          <a:xfrm>
            <a:off x="4095750" y="43719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BE21061-F5CD-417A-9D4D-BB181DDCE502}"/>
              </a:ext>
            </a:extLst>
          </p:cNvPr>
          <p:cNvSpPr>
            <a:spLocks noGrp="1"/>
          </p:cNvSpPr>
          <p:nvPr/>
        </p:nvSpPr>
        <p:spPr>
          <a:xfrm>
            <a:off x="4095750" y="4391025"/>
            <a:ext cx="2095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00783B"/>
                </a:solidFill>
              </a:defRPr>
            </a:pPr>
            <a:r>
              <a:rPr sz="825" b="1">
                <a:solidFill>
                  <a:srgbClr val="00783B"/>
                </a:solidFill>
              </a:rPr>
              <a:t>✓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0E332BA-DAC2-46B4-8E17-9ECBE43AE36C}"/>
              </a:ext>
            </a:extLst>
          </p:cNvPr>
          <p:cNvSpPr>
            <a:spLocks noGrp="1"/>
          </p:cNvSpPr>
          <p:nvPr/>
        </p:nvSpPr>
        <p:spPr>
          <a:xfrm>
            <a:off x="4438650" y="4371975"/>
            <a:ext cx="628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1">
                <a:solidFill>
                  <a:srgbClr val="121512"/>
                </a:solidFill>
              </a:defRPr>
            </a:pPr>
            <a:r>
              <a:rPr sz="1238" b="1">
                <a:solidFill>
                  <a:srgbClr val="121512"/>
                </a:solidFill>
              </a:rPr>
              <a:t>Mobile-first e em português do Brasil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6E803D86-E54C-481D-A5EF-F6C6B2ACFAAA}"/>
              </a:ext>
            </a:extLst>
          </p:cNvPr>
          <p:cNvSpPr>
            <a:spLocks noGrp="1"/>
          </p:cNvSpPr>
          <p:nvPr/>
        </p:nvSpPr>
        <p:spPr>
          <a:xfrm>
            <a:off x="4095750" y="47434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D2E63C0-BFC8-4EAF-8116-75CD0F131347}"/>
              </a:ext>
            </a:extLst>
          </p:cNvPr>
          <p:cNvSpPr>
            <a:spLocks noGrp="1"/>
          </p:cNvSpPr>
          <p:nvPr/>
        </p:nvSpPr>
        <p:spPr>
          <a:xfrm>
            <a:off x="4095750" y="4762500"/>
            <a:ext cx="2095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00783B"/>
                </a:solidFill>
              </a:defRPr>
            </a:pPr>
            <a:r>
              <a:rPr sz="825" b="1">
                <a:solidFill>
                  <a:srgbClr val="00783B"/>
                </a:solidFill>
              </a:rPr>
              <a:t>✓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968EB42-6700-41E6-BC5B-BB12F8437E51}"/>
              </a:ext>
            </a:extLst>
          </p:cNvPr>
          <p:cNvSpPr>
            <a:spLocks noGrp="1"/>
          </p:cNvSpPr>
          <p:nvPr/>
        </p:nvSpPr>
        <p:spPr>
          <a:xfrm>
            <a:off x="4438650" y="4743450"/>
            <a:ext cx="628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1">
                <a:solidFill>
                  <a:srgbClr val="121512"/>
                </a:solidFill>
              </a:defRPr>
            </a:pPr>
            <a:r>
              <a:rPr sz="1238" b="1">
                <a:solidFill>
                  <a:srgbClr val="121512"/>
                </a:solidFill>
              </a:rPr>
              <a:t>Botões grandes e contraste adequado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AB26998A-1BAF-493B-B922-A9DA24349EB5}"/>
              </a:ext>
            </a:extLst>
          </p:cNvPr>
          <p:cNvSpPr>
            <a:spLocks noGrp="1"/>
          </p:cNvSpPr>
          <p:nvPr/>
        </p:nvSpPr>
        <p:spPr>
          <a:xfrm>
            <a:off x="4095750" y="51149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C4F3197-0F0F-4C94-9FE9-7FD5362FD04D}"/>
              </a:ext>
            </a:extLst>
          </p:cNvPr>
          <p:cNvSpPr>
            <a:spLocks noGrp="1"/>
          </p:cNvSpPr>
          <p:nvPr/>
        </p:nvSpPr>
        <p:spPr>
          <a:xfrm>
            <a:off x="4095750" y="5133975"/>
            <a:ext cx="2095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00783B"/>
                </a:solidFill>
              </a:defRPr>
            </a:pPr>
            <a:r>
              <a:rPr sz="825" b="1">
                <a:solidFill>
                  <a:srgbClr val="00783B"/>
                </a:solidFill>
              </a:rPr>
              <a:t>✓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A5006B3-17BA-4DD1-9D21-AF1D2E0FC90A}"/>
              </a:ext>
            </a:extLst>
          </p:cNvPr>
          <p:cNvSpPr>
            <a:spLocks noGrp="1"/>
          </p:cNvSpPr>
          <p:nvPr/>
        </p:nvSpPr>
        <p:spPr>
          <a:xfrm>
            <a:off x="4438650" y="5114925"/>
            <a:ext cx="628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1">
                <a:solidFill>
                  <a:srgbClr val="121512"/>
                </a:solidFill>
              </a:defRPr>
            </a:pPr>
            <a:r>
              <a:rPr sz="1238" b="1">
                <a:solidFill>
                  <a:srgbClr val="121512"/>
                </a:solidFill>
              </a:rPr>
              <a:t>Uma ação principal por etapa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D27E2129-619F-4A5F-97CC-F98728810F45}"/>
              </a:ext>
            </a:extLst>
          </p:cNvPr>
          <p:cNvSpPr>
            <a:spLocks noGrp="1"/>
          </p:cNvSpPr>
          <p:nvPr/>
        </p:nvSpPr>
        <p:spPr>
          <a:xfrm>
            <a:off x="4095750" y="54864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E755CB7-3F0C-475F-82A9-C5594FF7E098}"/>
              </a:ext>
            </a:extLst>
          </p:cNvPr>
          <p:cNvSpPr>
            <a:spLocks noGrp="1"/>
          </p:cNvSpPr>
          <p:nvPr/>
        </p:nvSpPr>
        <p:spPr>
          <a:xfrm>
            <a:off x="4095750" y="5505450"/>
            <a:ext cx="2095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00783B"/>
                </a:solidFill>
              </a:defRPr>
            </a:pPr>
            <a:r>
              <a:rPr sz="825" b="1">
                <a:solidFill>
                  <a:srgbClr val="00783B"/>
                </a:solidFill>
              </a:rPr>
              <a:t>✓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1B40CED-9D2F-4F21-9F2D-797489D1B371}"/>
              </a:ext>
            </a:extLst>
          </p:cNvPr>
          <p:cNvSpPr>
            <a:spLocks noGrp="1"/>
          </p:cNvSpPr>
          <p:nvPr/>
        </p:nvSpPr>
        <p:spPr>
          <a:xfrm>
            <a:off x="4438650" y="5486400"/>
            <a:ext cx="628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0">
                <a:solidFill>
                  <a:srgbClr val="121512"/>
                </a:solidFill>
              </a:defRPr>
            </a:pPr>
            <a:r>
              <a:rPr sz="1238" b="0">
                <a:solidFill>
                  <a:srgbClr val="121512"/>
                </a:solidFill>
              </a:rPr>
              <a:t>Linguagem direta e estados sempre visíveis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D620AC12-F8AF-4646-BA4D-962911D573A4}"/>
              </a:ext>
            </a:extLst>
          </p:cNvPr>
          <p:cNvSpPr>
            <a:spLocks noGrp="1"/>
          </p:cNvSpPr>
          <p:nvPr/>
        </p:nvSpPr>
        <p:spPr>
          <a:xfrm>
            <a:off x="4095750" y="58578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1608F1C-21E3-4522-9A2F-CCF06A7370FF}"/>
              </a:ext>
            </a:extLst>
          </p:cNvPr>
          <p:cNvSpPr>
            <a:spLocks noGrp="1"/>
          </p:cNvSpPr>
          <p:nvPr/>
        </p:nvSpPr>
        <p:spPr>
          <a:xfrm>
            <a:off x="4095750" y="5876925"/>
            <a:ext cx="2095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00783B"/>
                </a:solidFill>
              </a:defRPr>
            </a:pPr>
            <a:r>
              <a:rPr sz="825" b="1">
                <a:solidFill>
                  <a:srgbClr val="00783B"/>
                </a:solidFill>
              </a:rPr>
              <a:t>✓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04942D6-6430-4BCB-A8B5-2477FFDC1AAB}"/>
              </a:ext>
            </a:extLst>
          </p:cNvPr>
          <p:cNvSpPr>
            <a:spLocks noGrp="1"/>
          </p:cNvSpPr>
          <p:nvPr/>
        </p:nvSpPr>
        <p:spPr>
          <a:xfrm>
            <a:off x="4438650" y="5857875"/>
            <a:ext cx="628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0">
                <a:solidFill>
                  <a:srgbClr val="121512"/>
                </a:solidFill>
              </a:defRPr>
            </a:pPr>
            <a:r>
              <a:rPr sz="1238" b="0">
                <a:solidFill>
                  <a:srgbClr val="121512"/>
                </a:solidFill>
              </a:rPr>
              <a:t>Status comunicado por texto e cor</a:t>
            </a:r>
          </a:p>
        </p:txBody>
      </p:sp>
      <p:sp>
        <p:nvSpPr>
          <p:cNvPr id="33" name="Conector reto 32">
            <a:extLst>
              <a:ext uri="{FF2B5EF4-FFF2-40B4-BE49-F238E27FC236}">
                <a16:creationId xmlns:a16="http://schemas.microsoft.com/office/drawing/2014/main" id="{AFA523EC-6E6B-43F3-9F14-4EA33B139CCB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40F229A-E29C-4C53-B65B-71003AA1ED6A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00783B"/>
                </a:solidFill>
              </a:defRPr>
            </a:pPr>
            <a:r>
              <a:rPr sz="750" b="1">
                <a:solidFill>
                  <a:srgbClr val="00783B"/>
                </a:solidFill>
              </a:rPr>
              <a:t>CIRNE ROTAS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DA2C614-15EC-490F-BB5F-F951A92AFEFF}"/>
              </a:ext>
            </a:extLst>
          </p:cNvPr>
          <p:cNvSpPr>
            <a:spLocks noGrp="1"/>
          </p:cNvSpPr>
          <p:nvPr/>
        </p:nvSpPr>
        <p:spPr>
          <a:xfrm>
            <a:off x="3810000" y="658177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667168"/>
                </a:solidFill>
              </a:defRPr>
            </a:pPr>
            <a:r>
              <a:rPr sz="675" b="0">
                <a:solidFill>
                  <a:srgbClr val="667168"/>
                </a:solidFill>
              </a:rPr>
              <a:t>Mockup conceitual · dados ilustrativos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64171187-5233-45A3-96E1-398EB8C21BEF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667168"/>
                </a:solidFill>
              </a:defRPr>
            </a:pPr>
            <a:r>
              <a:rPr sz="750" b="1">
                <a:solidFill>
                  <a:srgbClr val="6671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1651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1E0CD8CD-F5DA-4204-9910-CC714029910D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O vendedor abre o app e já encontra a rota do dia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7ACCCA7-C63F-43CB-8C76-9FBB37D0B64E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168"/>
                </a:solidFill>
              </a:defRPr>
            </a:pPr>
            <a:r>
              <a:rPr sz="1275" b="0">
                <a:solidFill>
                  <a:srgbClr val="667168"/>
                </a:solidFill>
              </a:rPr>
              <a:t>Sem menus desnecessários: a ação começa na lista de clientes.</a:t>
            </a: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10450" y="1285875"/>
            <a:ext cx="2514600" cy="5143500"/>
          </a:xfrm>
          <a:prstGeom prst="roundRect">
            <a:avLst>
              <a:gd name="adj" fmla="val 5556"/>
            </a:avLst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F793648-FC27-4422-81E5-4031F54BC57D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A651"/>
                </a:solidFill>
              </a:defRPr>
            </a:pPr>
            <a:r>
              <a:rPr sz="1275" b="1">
                <a:solidFill>
                  <a:srgbClr val="00A651"/>
                </a:solidFill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B80D092-8C2B-4842-8E89-DC2B21C35994}"/>
              </a:ext>
            </a:extLst>
          </p:cNvPr>
          <p:cNvSpPr>
            <a:spLocks noGrp="1"/>
          </p:cNvSpPr>
          <p:nvPr/>
        </p:nvSpPr>
        <p:spPr>
          <a:xfrm>
            <a:off x="1381125" y="1657350"/>
            <a:ext cx="4000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21512"/>
                </a:solidFill>
              </a:defRPr>
            </a:pPr>
            <a:r>
              <a:rPr sz="1650" b="1">
                <a:solidFill>
                  <a:srgbClr val="121512"/>
                </a:solidFill>
              </a:rPr>
              <a:t>Progresso visível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F95A101-B6C9-4D5E-A1A1-C81026F878B3}"/>
              </a:ext>
            </a:extLst>
          </p:cNvPr>
          <p:cNvSpPr>
            <a:spLocks noGrp="1"/>
          </p:cNvSpPr>
          <p:nvPr/>
        </p:nvSpPr>
        <p:spPr>
          <a:xfrm>
            <a:off x="1381125" y="2009775"/>
            <a:ext cx="4286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0">
                <a:solidFill>
                  <a:srgbClr val="667168"/>
                </a:solidFill>
              </a:defRPr>
            </a:pPr>
            <a:r>
              <a:rPr sz="1238" b="0">
                <a:solidFill>
                  <a:srgbClr val="667168"/>
                </a:solidFill>
              </a:rPr>
              <a:t>Clientes visitados e pendentes aparecem logo no início.</a:t>
            </a:r>
          </a:p>
        </p:txBody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8ED47959-DB97-4CC8-B180-546F0386EF4A}"/>
              </a:ext>
            </a:extLst>
          </p:cNvPr>
          <p:cNvSpPr>
            <a:spLocks noGrp="1"/>
          </p:cNvSpPr>
          <p:nvPr/>
        </p:nvSpPr>
        <p:spPr>
          <a:xfrm>
            <a:off x="1381125" y="2524125"/>
            <a:ext cx="409575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8B41484-459E-4998-BFF3-657A3B8A38C2}"/>
              </a:ext>
            </a:extLst>
          </p:cNvPr>
          <p:cNvSpPr>
            <a:spLocks noGrp="1"/>
          </p:cNvSpPr>
          <p:nvPr/>
        </p:nvSpPr>
        <p:spPr>
          <a:xfrm>
            <a:off x="781050" y="2733675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A651"/>
                </a:solidFill>
              </a:defRPr>
            </a:pPr>
            <a:r>
              <a:rPr sz="1275" b="1">
                <a:solidFill>
                  <a:srgbClr val="00A651"/>
                </a:solidFill>
              </a:rPr>
              <a:t>02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700F636-A51B-4D43-9DDB-1D951F2E98C3}"/>
              </a:ext>
            </a:extLst>
          </p:cNvPr>
          <p:cNvSpPr>
            <a:spLocks noGrp="1"/>
          </p:cNvSpPr>
          <p:nvPr/>
        </p:nvSpPr>
        <p:spPr>
          <a:xfrm>
            <a:off x="1381125" y="2714625"/>
            <a:ext cx="4000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21512"/>
                </a:solidFill>
              </a:defRPr>
            </a:pPr>
            <a:r>
              <a:rPr sz="1650" b="1">
                <a:solidFill>
                  <a:srgbClr val="121512"/>
                </a:solidFill>
              </a:rPr>
              <a:t>Navegação externa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DE703FE-746E-4EB5-8A78-3E8CDBA543B1}"/>
              </a:ext>
            </a:extLst>
          </p:cNvPr>
          <p:cNvSpPr>
            <a:spLocks noGrp="1"/>
          </p:cNvSpPr>
          <p:nvPr/>
        </p:nvSpPr>
        <p:spPr>
          <a:xfrm>
            <a:off x="1381125" y="3067050"/>
            <a:ext cx="4286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0">
                <a:solidFill>
                  <a:srgbClr val="667168"/>
                </a:solidFill>
              </a:defRPr>
            </a:pPr>
            <a:r>
              <a:rPr sz="1238" b="0">
                <a:solidFill>
                  <a:srgbClr val="667168"/>
                </a:solidFill>
              </a:rPr>
              <a:t>O botão Navegar abre o Google Maps com o destino.</a:t>
            </a:r>
          </a:p>
        </p:txBody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6527A751-E3E6-403A-9A84-9ACA93501275}"/>
              </a:ext>
            </a:extLst>
          </p:cNvPr>
          <p:cNvSpPr>
            <a:spLocks noGrp="1"/>
          </p:cNvSpPr>
          <p:nvPr/>
        </p:nvSpPr>
        <p:spPr>
          <a:xfrm>
            <a:off x="1381125" y="3581400"/>
            <a:ext cx="409575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4DE4EDE-8474-4C24-8981-415B4A1EC130}"/>
              </a:ext>
            </a:extLst>
          </p:cNvPr>
          <p:cNvSpPr>
            <a:spLocks noGrp="1"/>
          </p:cNvSpPr>
          <p:nvPr/>
        </p:nvSpPr>
        <p:spPr>
          <a:xfrm>
            <a:off x="781050" y="37909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FF7900"/>
                </a:solidFill>
              </a:defRPr>
            </a:pPr>
            <a:r>
              <a:rPr sz="1275" b="1">
                <a:solidFill>
                  <a:srgbClr val="FF7900"/>
                </a:solidFill>
              </a:rPr>
              <a:t>03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BDF3433-747B-4D15-AA63-55914A35A819}"/>
              </a:ext>
            </a:extLst>
          </p:cNvPr>
          <p:cNvSpPr>
            <a:spLocks noGrp="1"/>
          </p:cNvSpPr>
          <p:nvPr/>
        </p:nvSpPr>
        <p:spPr>
          <a:xfrm>
            <a:off x="1381125" y="3771900"/>
            <a:ext cx="4000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21512"/>
                </a:solidFill>
              </a:defRPr>
            </a:pPr>
            <a:r>
              <a:rPr sz="1650" b="1">
                <a:solidFill>
                  <a:srgbClr val="121512"/>
                </a:solidFill>
              </a:rPr>
              <a:t>Uma ação principal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8226249-8376-4EAC-86E6-2628D554F481}"/>
              </a:ext>
            </a:extLst>
          </p:cNvPr>
          <p:cNvSpPr>
            <a:spLocks noGrp="1"/>
          </p:cNvSpPr>
          <p:nvPr/>
        </p:nvSpPr>
        <p:spPr>
          <a:xfrm>
            <a:off x="1381125" y="4124325"/>
            <a:ext cx="4286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0">
                <a:solidFill>
                  <a:srgbClr val="667168"/>
                </a:solidFill>
              </a:defRPr>
            </a:pPr>
            <a:r>
              <a:rPr sz="1238" b="0">
                <a:solidFill>
                  <a:srgbClr val="667168"/>
                </a:solidFill>
              </a:rPr>
              <a:t>Iniciar visita conduz diretamente à coleta de campo.</a:t>
            </a: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F709A32B-D26B-41F4-9F00-451892D22AF7}"/>
              </a:ext>
            </a:extLst>
          </p:cNvPr>
          <p:cNvSpPr>
            <a:spLocks noGrp="1"/>
          </p:cNvSpPr>
          <p:nvPr/>
        </p:nvSpPr>
        <p:spPr>
          <a:xfrm>
            <a:off x="1381125" y="4638675"/>
            <a:ext cx="409575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ECB6550-B2EA-4DED-85C7-F44265F4F836}"/>
              </a:ext>
            </a:extLst>
          </p:cNvPr>
          <p:cNvSpPr>
            <a:spLocks noGrp="1"/>
          </p:cNvSpPr>
          <p:nvPr/>
        </p:nvSpPr>
        <p:spPr>
          <a:xfrm>
            <a:off x="781050" y="4848225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0A651"/>
                </a:solidFill>
              </a:defRPr>
            </a:pPr>
            <a:r>
              <a:rPr sz="1275" b="1">
                <a:solidFill>
                  <a:srgbClr val="00A651"/>
                </a:solidFill>
              </a:rPr>
              <a:t>04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C25AD5A-C8FB-4119-BBB0-65D6F5146F13}"/>
              </a:ext>
            </a:extLst>
          </p:cNvPr>
          <p:cNvSpPr>
            <a:spLocks noGrp="1"/>
          </p:cNvSpPr>
          <p:nvPr/>
        </p:nvSpPr>
        <p:spPr>
          <a:xfrm>
            <a:off x="1381125" y="4829175"/>
            <a:ext cx="4000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21512"/>
                </a:solidFill>
              </a:defRPr>
            </a:pPr>
            <a:r>
              <a:rPr sz="1650" b="1">
                <a:solidFill>
                  <a:srgbClr val="121512"/>
                </a:solidFill>
              </a:rPr>
              <a:t>Leitura imediata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A9892E6-DA30-4584-ADB1-964A5BE9B8E8}"/>
              </a:ext>
            </a:extLst>
          </p:cNvPr>
          <p:cNvSpPr>
            <a:spLocks noGrp="1"/>
          </p:cNvSpPr>
          <p:nvPr/>
        </p:nvSpPr>
        <p:spPr>
          <a:xfrm>
            <a:off x="1381125" y="5181600"/>
            <a:ext cx="4286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0">
                <a:solidFill>
                  <a:srgbClr val="667168"/>
                </a:solidFill>
              </a:defRPr>
            </a:pPr>
            <a:r>
              <a:rPr sz="1238" b="0">
                <a:solidFill>
                  <a:srgbClr val="667168"/>
                </a:solidFill>
              </a:rPr>
              <a:t>Nome, cidade, endereço e status em cartões grandes.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01CBF01-F1D2-4300-BD20-381E43D40D45}"/>
              </a:ext>
            </a:extLst>
          </p:cNvPr>
          <p:cNvSpPr>
            <a:spLocks noGrp="1"/>
          </p:cNvSpPr>
          <p:nvPr/>
        </p:nvSpPr>
        <p:spPr>
          <a:xfrm>
            <a:off x="762000" y="5886450"/>
            <a:ext cx="5095875" cy="457200"/>
          </a:xfrm>
          <a:prstGeom prst="roundRect">
            <a:avLst>
              <a:gd name="adj" fmla="val 33333"/>
            </a:avLst>
          </a:prstGeom>
          <a:solidFill>
            <a:srgbClr val="06331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CEE2B99-B4D0-43C6-BDCE-7F1BE3320000}"/>
              </a:ext>
            </a:extLst>
          </p:cNvPr>
          <p:cNvSpPr>
            <a:spLocks noGrp="1"/>
          </p:cNvSpPr>
          <p:nvPr/>
        </p:nvSpPr>
        <p:spPr>
          <a:xfrm>
            <a:off x="962025" y="6010275"/>
            <a:ext cx="46958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 rota é uma lista diária — não um rastreamento contínuo.</a:t>
            </a:r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F972C7C4-7B0C-4AED-8110-71D8891C1622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0F53A3C4-5D29-4CF4-AD86-7962CC690C73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00783B"/>
                </a:solidFill>
              </a:defRPr>
            </a:pPr>
            <a:r>
              <a:rPr sz="750" b="1">
                <a:solidFill>
                  <a:srgbClr val="00783B"/>
                </a:solidFill>
              </a:rPr>
              <a:t>CIRNE ROTAS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2B20091-4B52-440A-8698-1CBC69662728}"/>
              </a:ext>
            </a:extLst>
          </p:cNvPr>
          <p:cNvSpPr>
            <a:spLocks noGrp="1"/>
          </p:cNvSpPr>
          <p:nvPr/>
        </p:nvSpPr>
        <p:spPr>
          <a:xfrm>
            <a:off x="3810000" y="658177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667168"/>
                </a:solidFill>
              </a:defRPr>
            </a:pPr>
            <a:r>
              <a:rPr sz="675" b="0">
                <a:solidFill>
                  <a:srgbClr val="667168"/>
                </a:solidFill>
              </a:rPr>
              <a:t>Mockup conceitual · dados ilustrativos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3FC1774-6303-424E-83C0-4E4B919C882C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667168"/>
                </a:solidFill>
              </a:defRPr>
            </a:pPr>
            <a:r>
              <a:rPr sz="750" b="1">
                <a:solidFill>
                  <a:srgbClr val="6671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95217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445EC347-7447-4B1A-8715-A852833F8F0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Cada visita transforma a prateleira em informação comercial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5DE7A14-24DE-4E23-9C5F-52EC8A7F0DD3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168"/>
                </a:solidFill>
              </a:defRPr>
            </a:pPr>
            <a:r>
              <a:rPr sz="1275" b="0">
                <a:solidFill>
                  <a:srgbClr val="667168"/>
                </a:solidFill>
              </a:rPr>
              <a:t>A contagem é simples: total Heliar e total Moura.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CA7C8BE-79FD-4094-B6E7-ED4E8861A8D3}"/>
              </a:ext>
            </a:extLst>
          </p:cNvPr>
          <p:cNvSpPr>
            <a:spLocks noGrp="1"/>
          </p:cNvSpPr>
          <p:nvPr/>
        </p:nvSpPr>
        <p:spPr>
          <a:xfrm>
            <a:off x="4933950" y="15811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00783B"/>
                </a:solidFill>
              </a:defRPr>
            </a:pPr>
            <a:r>
              <a:rPr sz="900" b="1">
                <a:solidFill>
                  <a:srgbClr val="00783B"/>
                </a:solidFill>
              </a:rPr>
              <a:t>COLETA OBRIGATÓRIA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B6BF973-567A-43A4-A56E-F92F8A80E058}"/>
              </a:ext>
            </a:extLst>
          </p:cNvPr>
          <p:cNvSpPr>
            <a:spLocks noGrp="1"/>
          </p:cNvSpPr>
          <p:nvPr/>
        </p:nvSpPr>
        <p:spPr>
          <a:xfrm>
            <a:off x="4895850" y="1905000"/>
            <a:ext cx="590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Dois números</a:t>
            </a:r>
          </a:p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que mudam a conversa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349CAB1-D201-4EB9-B180-6350F92A5A70}"/>
              </a:ext>
            </a:extLst>
          </p:cNvPr>
          <p:cNvSpPr>
            <a:spLocks noGrp="1"/>
          </p:cNvSpPr>
          <p:nvPr/>
        </p:nvSpPr>
        <p:spPr>
          <a:xfrm>
            <a:off x="4933950" y="3133725"/>
            <a:ext cx="266700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B66FF90-1253-4E84-99C5-1E9812DEF527}"/>
              </a:ext>
            </a:extLst>
          </p:cNvPr>
          <p:cNvSpPr>
            <a:spLocks noGrp="1"/>
          </p:cNvSpPr>
          <p:nvPr/>
        </p:nvSpPr>
        <p:spPr>
          <a:xfrm>
            <a:off x="4933950" y="3133725"/>
            <a:ext cx="76200" cy="1200150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FC918AA-5E3C-4B62-9961-C793C9F55E09}"/>
              </a:ext>
            </a:extLst>
          </p:cNvPr>
          <p:cNvSpPr>
            <a:spLocks noGrp="1"/>
          </p:cNvSpPr>
          <p:nvPr/>
        </p:nvSpPr>
        <p:spPr>
          <a:xfrm>
            <a:off x="5200650" y="337185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121512"/>
                </a:solidFill>
              </a:defRPr>
            </a:pPr>
            <a:r>
              <a:rPr sz="2250" b="1">
                <a:solidFill>
                  <a:srgbClr val="121512"/>
                </a:solidFill>
              </a:rPr>
              <a:t>18 un.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498A052-68E6-4521-AF62-BF6DF790BAB8}"/>
              </a:ext>
            </a:extLst>
          </p:cNvPr>
          <p:cNvSpPr>
            <a:spLocks noGrp="1"/>
          </p:cNvSpPr>
          <p:nvPr/>
        </p:nvSpPr>
        <p:spPr>
          <a:xfrm>
            <a:off x="5200650" y="38290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>
                <a:solidFill>
                  <a:srgbClr val="667168"/>
                </a:solidFill>
              </a:defRPr>
            </a:pPr>
            <a:r>
              <a:rPr sz="1163" b="0">
                <a:solidFill>
                  <a:srgbClr val="667168"/>
                </a:solidFill>
              </a:rPr>
              <a:t>Estoque Heliar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D4BA441-1735-40A2-99A5-70FA4442A433}"/>
              </a:ext>
            </a:extLst>
          </p:cNvPr>
          <p:cNvSpPr>
            <a:spLocks noGrp="1"/>
          </p:cNvSpPr>
          <p:nvPr/>
        </p:nvSpPr>
        <p:spPr>
          <a:xfrm>
            <a:off x="7848600" y="3133725"/>
            <a:ext cx="266700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6750E08-CF32-4899-90FF-8DE57529F9C8}"/>
              </a:ext>
            </a:extLst>
          </p:cNvPr>
          <p:cNvSpPr>
            <a:spLocks noGrp="1"/>
          </p:cNvSpPr>
          <p:nvPr/>
        </p:nvSpPr>
        <p:spPr>
          <a:xfrm>
            <a:off x="7848600" y="3133725"/>
            <a:ext cx="76200" cy="1200150"/>
          </a:xfrm>
          <a:prstGeom prst="roundRect">
            <a:avLst>
              <a:gd name="adj" fmla="val 50000"/>
            </a:avLst>
          </a:prstGeom>
          <a:solidFill>
            <a:srgbClr val="215A9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27DFB9F-1F5A-4EE5-A43E-E1C5034B5C0A}"/>
              </a:ext>
            </a:extLst>
          </p:cNvPr>
          <p:cNvSpPr>
            <a:spLocks noGrp="1"/>
          </p:cNvSpPr>
          <p:nvPr/>
        </p:nvSpPr>
        <p:spPr>
          <a:xfrm>
            <a:off x="8115300" y="337185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121512"/>
                </a:solidFill>
              </a:defRPr>
            </a:pPr>
            <a:r>
              <a:rPr sz="2250" b="1">
                <a:solidFill>
                  <a:srgbClr val="121512"/>
                </a:solidFill>
              </a:rPr>
              <a:t>32 un.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713346D-8867-4442-96ED-C4AE13203117}"/>
              </a:ext>
            </a:extLst>
          </p:cNvPr>
          <p:cNvSpPr>
            <a:spLocks noGrp="1"/>
          </p:cNvSpPr>
          <p:nvPr/>
        </p:nvSpPr>
        <p:spPr>
          <a:xfrm>
            <a:off x="8115300" y="38290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>
                <a:solidFill>
                  <a:srgbClr val="667168"/>
                </a:solidFill>
              </a:defRPr>
            </a:pPr>
            <a:r>
              <a:rPr sz="1163" b="0">
                <a:solidFill>
                  <a:srgbClr val="667168"/>
                </a:solidFill>
              </a:rPr>
              <a:t>Estoque Moura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8806B97-BEFE-44C0-89BA-5BD06BA2C743}"/>
              </a:ext>
            </a:extLst>
          </p:cNvPr>
          <p:cNvSpPr>
            <a:spLocks noGrp="1"/>
          </p:cNvSpPr>
          <p:nvPr/>
        </p:nvSpPr>
        <p:spPr>
          <a:xfrm>
            <a:off x="4933950" y="4572000"/>
            <a:ext cx="5581650" cy="1171575"/>
          </a:xfrm>
          <a:prstGeom prst="roundRect">
            <a:avLst>
              <a:gd name="adj" fmla="val 1626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4F3C5F3-C29A-4ECB-95F2-1DD13B9824CC}"/>
              </a:ext>
            </a:extLst>
          </p:cNvPr>
          <p:cNvSpPr>
            <a:spLocks noGrp="1"/>
          </p:cNvSpPr>
          <p:nvPr/>
        </p:nvSpPr>
        <p:spPr>
          <a:xfrm>
            <a:off x="5210175" y="4810125"/>
            <a:ext cx="1190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0783B"/>
                </a:solidFill>
              </a:defRPr>
            </a:pPr>
            <a:r>
              <a:rPr sz="2400" b="1">
                <a:solidFill>
                  <a:srgbClr val="00783B"/>
                </a:solidFill>
              </a:rPr>
              <a:t>36%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721C70B-2A21-4A2E-A9D0-ED781AE420FD}"/>
              </a:ext>
            </a:extLst>
          </p:cNvPr>
          <p:cNvSpPr>
            <a:spLocks noGrp="1"/>
          </p:cNvSpPr>
          <p:nvPr/>
        </p:nvSpPr>
        <p:spPr>
          <a:xfrm>
            <a:off x="6477000" y="4829175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121512"/>
                </a:solidFill>
              </a:defRPr>
            </a:pPr>
            <a:r>
              <a:rPr sz="1500" b="1">
                <a:solidFill>
                  <a:srgbClr val="121512"/>
                </a:solidFill>
              </a:rPr>
              <a:t>Participação Heliar no estoque observado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C1874E2-188B-4A0D-BBB8-F3A14199CA55}"/>
              </a:ext>
            </a:extLst>
          </p:cNvPr>
          <p:cNvSpPr>
            <a:spLocks noGrp="1"/>
          </p:cNvSpPr>
          <p:nvPr/>
        </p:nvSpPr>
        <p:spPr>
          <a:xfrm>
            <a:off x="5219700" y="5314950"/>
            <a:ext cx="4905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>
                <a:solidFill>
                  <a:srgbClr val="667168"/>
                </a:solidFill>
              </a:defRPr>
            </a:pPr>
            <a:r>
              <a:rPr sz="1163" b="0">
                <a:solidFill>
                  <a:srgbClr val="667168"/>
                </a:solidFill>
              </a:rPr>
              <a:t>O sistema calcula automaticamente a participação por cliente, cidade e vendedor.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7A391C27-EA39-4C70-A847-582F22D71E1B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6423434-4098-4217-8ED7-52A06F5CCB0B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00783B"/>
                </a:solidFill>
              </a:defRPr>
            </a:pPr>
            <a:r>
              <a:rPr sz="750" b="1">
                <a:solidFill>
                  <a:srgbClr val="00783B"/>
                </a:solidFill>
              </a:rPr>
              <a:t>CIRNE ROTAS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64C4BF8-F05A-4622-B4EF-1264FAC62058}"/>
              </a:ext>
            </a:extLst>
          </p:cNvPr>
          <p:cNvSpPr>
            <a:spLocks noGrp="1"/>
          </p:cNvSpPr>
          <p:nvPr/>
        </p:nvSpPr>
        <p:spPr>
          <a:xfrm>
            <a:off x="3810000" y="658177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667168"/>
                </a:solidFill>
              </a:defRPr>
            </a:pPr>
            <a:r>
              <a:rPr sz="675" b="0">
                <a:solidFill>
                  <a:srgbClr val="667168"/>
                </a:solidFill>
              </a:rPr>
              <a:t>Mockup conceitual · dados ilustrativos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CB1B77F-6669-4878-99DD-47BDD2FCE177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667168"/>
                </a:solidFill>
              </a:defRPr>
            </a:pPr>
            <a:r>
              <a:rPr sz="750" b="1">
                <a:solidFill>
                  <a:srgbClr val="667168"/>
                </a:solidFill>
              </a:rPr>
              <a:t>07</a:t>
            </a:r>
          </a:p>
        </p:txBody>
      </p:sp>
      <p:pic>
        <p:nvPicPr>
          <p:cNvPr id="44" name="Imagem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1100" y="1285875"/>
            <a:ext cx="2514600" cy="51435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31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7F4FD4CB-3FC8-4639-ABA0-F616E15E5CB9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A pesquisa de preços fica padronizada e comparável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8021668-5A29-49DB-9307-7A4636077EEC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168"/>
                </a:solidFill>
              </a:defRPr>
            </a:pPr>
            <a:r>
              <a:rPr sz="1275" b="0">
                <a:solidFill>
                  <a:srgbClr val="667168"/>
                </a:solidFill>
              </a:rPr>
              <a:t>Campos fechados evitam descrições diferentes para o mesmo produto.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3D254D1-5D5E-4B1F-97E5-E93814226484}"/>
              </a:ext>
            </a:extLst>
          </p:cNvPr>
          <p:cNvSpPr>
            <a:spLocks noGrp="1"/>
          </p:cNvSpPr>
          <p:nvPr/>
        </p:nvSpPr>
        <p:spPr>
          <a:xfrm>
            <a:off x="742950" y="1781175"/>
            <a:ext cx="272415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17F9AB6-1142-4138-9EB8-728D231D2FF5}"/>
              </a:ext>
            </a:extLst>
          </p:cNvPr>
          <p:cNvSpPr>
            <a:spLocks noGrp="1"/>
          </p:cNvSpPr>
          <p:nvPr/>
        </p:nvSpPr>
        <p:spPr>
          <a:xfrm>
            <a:off x="933450" y="19716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86A42E1-76A5-4F02-B4B2-AAE1BB2A13AB}"/>
              </a:ext>
            </a:extLst>
          </p:cNvPr>
          <p:cNvSpPr>
            <a:spLocks noGrp="1"/>
          </p:cNvSpPr>
          <p:nvPr/>
        </p:nvSpPr>
        <p:spPr>
          <a:xfrm>
            <a:off x="933450" y="20383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00783B"/>
                </a:solidFill>
              </a:defRPr>
            </a:pPr>
            <a:r>
              <a:rPr sz="1050" b="1">
                <a:solidFill>
                  <a:srgbClr val="00783B"/>
                </a:solidFill>
              </a:rPr>
              <a:t>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40E50F3-1744-4E51-B8D2-35BA3CC35060}"/>
              </a:ext>
            </a:extLst>
          </p:cNvPr>
          <p:cNvSpPr>
            <a:spLocks noGrp="1"/>
          </p:cNvSpPr>
          <p:nvPr/>
        </p:nvSpPr>
        <p:spPr>
          <a:xfrm>
            <a:off x="1428750" y="19431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21512"/>
                </a:solidFill>
              </a:defRPr>
            </a:pPr>
            <a:r>
              <a:rPr sz="1350" b="1">
                <a:solidFill>
                  <a:srgbClr val="121512"/>
                </a:solidFill>
              </a:rPr>
              <a:t>Marca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307AA58-F7D2-476B-9D35-CE0DE1A32DDF}"/>
              </a:ext>
            </a:extLst>
          </p:cNvPr>
          <p:cNvSpPr>
            <a:spLocks noGrp="1"/>
          </p:cNvSpPr>
          <p:nvPr/>
        </p:nvSpPr>
        <p:spPr>
          <a:xfrm>
            <a:off x="1428750" y="2314575"/>
            <a:ext cx="1809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67168"/>
                </a:solidFill>
              </a:defRPr>
            </a:pPr>
            <a:r>
              <a:rPr sz="1125" b="0">
                <a:solidFill>
                  <a:srgbClr val="667168"/>
                </a:solidFill>
              </a:rPr>
              <a:t>Concorrente pesquisado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53412BC-0D0A-479A-B4D6-665CB293CF57}"/>
              </a:ext>
            </a:extLst>
          </p:cNvPr>
          <p:cNvSpPr>
            <a:spLocks noGrp="1"/>
          </p:cNvSpPr>
          <p:nvPr/>
        </p:nvSpPr>
        <p:spPr>
          <a:xfrm>
            <a:off x="3752850" y="1781175"/>
            <a:ext cx="272415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93026D3-7A0F-4574-9C87-42205B2B9564}"/>
              </a:ext>
            </a:extLst>
          </p:cNvPr>
          <p:cNvSpPr>
            <a:spLocks noGrp="1"/>
          </p:cNvSpPr>
          <p:nvPr/>
        </p:nvSpPr>
        <p:spPr>
          <a:xfrm>
            <a:off x="3943350" y="19716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3595F0A-649D-4BD6-BE15-BBBBD282AD0F}"/>
              </a:ext>
            </a:extLst>
          </p:cNvPr>
          <p:cNvSpPr>
            <a:spLocks noGrp="1"/>
          </p:cNvSpPr>
          <p:nvPr/>
        </p:nvSpPr>
        <p:spPr>
          <a:xfrm>
            <a:off x="3943350" y="20383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00783B"/>
                </a:solidFill>
              </a:defRPr>
            </a:pPr>
            <a:r>
              <a:rPr sz="1050" b="1">
                <a:solidFill>
                  <a:srgbClr val="00783B"/>
                </a:solidFill>
              </a:rPr>
              <a:t>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A9F529F-81DA-44EC-B261-7312CDF8851F}"/>
              </a:ext>
            </a:extLst>
          </p:cNvPr>
          <p:cNvSpPr>
            <a:spLocks noGrp="1"/>
          </p:cNvSpPr>
          <p:nvPr/>
        </p:nvSpPr>
        <p:spPr>
          <a:xfrm>
            <a:off x="4438650" y="19431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21512"/>
                </a:solidFill>
              </a:defRPr>
            </a:pPr>
            <a:r>
              <a:rPr sz="1350" b="1">
                <a:solidFill>
                  <a:srgbClr val="121512"/>
                </a:solidFill>
              </a:rPr>
              <a:t>Modelo / amperagem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0666CA9-5B3D-43D2-9C5B-79F5985E24F4}"/>
              </a:ext>
            </a:extLst>
          </p:cNvPr>
          <p:cNvSpPr>
            <a:spLocks noGrp="1"/>
          </p:cNvSpPr>
          <p:nvPr/>
        </p:nvSpPr>
        <p:spPr>
          <a:xfrm>
            <a:off x="4438650" y="2314575"/>
            <a:ext cx="1809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67168"/>
                </a:solidFill>
              </a:defRPr>
            </a:pPr>
            <a:r>
              <a:rPr sz="1125" b="0">
                <a:solidFill>
                  <a:srgbClr val="667168"/>
                </a:solidFill>
              </a:rPr>
              <a:t>Produto comparável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45DAF79-9965-4AF4-A9A3-C18D32BECC5D}"/>
              </a:ext>
            </a:extLst>
          </p:cNvPr>
          <p:cNvSpPr>
            <a:spLocks noGrp="1"/>
          </p:cNvSpPr>
          <p:nvPr/>
        </p:nvSpPr>
        <p:spPr>
          <a:xfrm>
            <a:off x="742950" y="3267075"/>
            <a:ext cx="272415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E24ACAC-8838-4077-8A7B-296980A7E955}"/>
              </a:ext>
            </a:extLst>
          </p:cNvPr>
          <p:cNvSpPr>
            <a:spLocks noGrp="1"/>
          </p:cNvSpPr>
          <p:nvPr/>
        </p:nvSpPr>
        <p:spPr>
          <a:xfrm>
            <a:off x="933450" y="34575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1B5D471-46F5-442E-B844-08CE0004502D}"/>
              </a:ext>
            </a:extLst>
          </p:cNvPr>
          <p:cNvSpPr>
            <a:spLocks noGrp="1"/>
          </p:cNvSpPr>
          <p:nvPr/>
        </p:nvSpPr>
        <p:spPr>
          <a:xfrm>
            <a:off x="933450" y="35242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00783B"/>
                </a:solidFill>
              </a:defRPr>
            </a:pPr>
            <a:r>
              <a:rPr sz="1050" b="1">
                <a:solidFill>
                  <a:srgbClr val="00783B"/>
                </a:solidFill>
              </a:rPr>
              <a:t>3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6382AF2-9B45-45E8-9D1C-C5CBF18AB186}"/>
              </a:ext>
            </a:extLst>
          </p:cNvPr>
          <p:cNvSpPr>
            <a:spLocks noGrp="1"/>
          </p:cNvSpPr>
          <p:nvPr/>
        </p:nvSpPr>
        <p:spPr>
          <a:xfrm>
            <a:off x="1428750" y="34290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21512"/>
                </a:solidFill>
              </a:defRPr>
            </a:pPr>
            <a:r>
              <a:rPr sz="1350" b="1">
                <a:solidFill>
                  <a:srgbClr val="121512"/>
                </a:solidFill>
              </a:rPr>
              <a:t>Tecnologia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4079D77-237C-48C9-9E85-266E8C8E7368}"/>
              </a:ext>
            </a:extLst>
          </p:cNvPr>
          <p:cNvSpPr>
            <a:spLocks noGrp="1"/>
          </p:cNvSpPr>
          <p:nvPr/>
        </p:nvSpPr>
        <p:spPr>
          <a:xfrm>
            <a:off x="1428750" y="3800475"/>
            <a:ext cx="1809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67168"/>
                </a:solidFill>
              </a:defRPr>
            </a:pPr>
            <a:r>
              <a:rPr sz="1125" b="0">
                <a:solidFill>
                  <a:srgbClr val="667168"/>
                </a:solidFill>
              </a:rPr>
              <a:t>SLI, EFB ou AGM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88E1FD1-2641-450B-BEE9-722D1E3F3755}"/>
              </a:ext>
            </a:extLst>
          </p:cNvPr>
          <p:cNvSpPr>
            <a:spLocks noGrp="1"/>
          </p:cNvSpPr>
          <p:nvPr/>
        </p:nvSpPr>
        <p:spPr>
          <a:xfrm>
            <a:off x="3752850" y="3267075"/>
            <a:ext cx="272415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9CFE223-387E-4E03-8F6A-EE3E2A617622}"/>
              </a:ext>
            </a:extLst>
          </p:cNvPr>
          <p:cNvSpPr>
            <a:spLocks noGrp="1"/>
          </p:cNvSpPr>
          <p:nvPr/>
        </p:nvSpPr>
        <p:spPr>
          <a:xfrm>
            <a:off x="3943350" y="34575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0E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42B1901-5C5F-447E-9AA0-7F32266E6F2C}"/>
              </a:ext>
            </a:extLst>
          </p:cNvPr>
          <p:cNvSpPr>
            <a:spLocks noGrp="1"/>
          </p:cNvSpPr>
          <p:nvPr/>
        </p:nvSpPr>
        <p:spPr>
          <a:xfrm>
            <a:off x="3943350" y="35242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7900"/>
                </a:solidFill>
              </a:defRPr>
            </a:pPr>
            <a:r>
              <a:rPr sz="1050" b="1">
                <a:solidFill>
                  <a:srgbClr val="FF7900"/>
                </a:solidFill>
              </a:rPr>
              <a:t>4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A5301F3-2676-47EE-B2A6-585450299FA2}"/>
              </a:ext>
            </a:extLst>
          </p:cNvPr>
          <p:cNvSpPr>
            <a:spLocks noGrp="1"/>
          </p:cNvSpPr>
          <p:nvPr/>
        </p:nvSpPr>
        <p:spPr>
          <a:xfrm>
            <a:off x="4438650" y="34290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21512"/>
                </a:solidFill>
              </a:defRPr>
            </a:pPr>
            <a:r>
              <a:rPr sz="1350" b="1">
                <a:solidFill>
                  <a:srgbClr val="121512"/>
                </a:solidFill>
              </a:rPr>
              <a:t>Preço e condição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27C5B7D-408A-44E3-8B81-8F8214E29405}"/>
              </a:ext>
            </a:extLst>
          </p:cNvPr>
          <p:cNvSpPr>
            <a:spLocks noGrp="1"/>
          </p:cNvSpPr>
          <p:nvPr/>
        </p:nvSpPr>
        <p:spPr>
          <a:xfrm>
            <a:off x="4438650" y="3800475"/>
            <a:ext cx="1809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67168"/>
                </a:solidFill>
              </a:defRPr>
            </a:pPr>
            <a:r>
              <a:rPr sz="1125" b="0">
                <a:solidFill>
                  <a:srgbClr val="667168"/>
                </a:solidFill>
              </a:rPr>
              <a:t>À vista ou a prazo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9E3B992-881F-4B95-8BE4-923A108A54A7}"/>
              </a:ext>
            </a:extLst>
          </p:cNvPr>
          <p:cNvSpPr>
            <a:spLocks noGrp="1"/>
          </p:cNvSpPr>
          <p:nvPr/>
        </p:nvSpPr>
        <p:spPr>
          <a:xfrm>
            <a:off x="742950" y="4943475"/>
            <a:ext cx="5734050" cy="790575"/>
          </a:xfrm>
          <a:prstGeom prst="roundRect">
            <a:avLst>
              <a:gd name="adj" fmla="val 21687"/>
            </a:avLst>
          </a:prstGeom>
          <a:solidFill>
            <a:srgbClr val="121512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ED97A6A-A456-4564-873A-6F90C2BE99E9}"/>
              </a:ext>
            </a:extLst>
          </p:cNvPr>
          <p:cNvSpPr>
            <a:spLocks noGrp="1"/>
          </p:cNvSpPr>
          <p:nvPr/>
        </p:nvSpPr>
        <p:spPr>
          <a:xfrm>
            <a:off x="981075" y="513397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FF7900"/>
                </a:solidFill>
              </a:defRPr>
            </a:pPr>
            <a:r>
              <a:rPr sz="1275" b="1">
                <a:solidFill>
                  <a:srgbClr val="FF7900"/>
                </a:solidFill>
              </a:rPr>
              <a:t>Sem preço disponível?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A3866865-F937-4008-B0E9-6F9B3E46C2DA}"/>
              </a:ext>
            </a:extLst>
          </p:cNvPr>
          <p:cNvSpPr>
            <a:spLocks noGrp="1"/>
          </p:cNvSpPr>
          <p:nvPr/>
        </p:nvSpPr>
        <p:spPr>
          <a:xfrm>
            <a:off x="981075" y="54102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O vendedor informa o motivo — nunca precisa inventar um dado.</a:t>
            </a:r>
          </a:p>
        </p:txBody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476CAF77-DE7B-4640-A407-D13A2DCF17DF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2B831EFC-8513-42E1-B31E-207248522C09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00783B"/>
                </a:solidFill>
              </a:defRPr>
            </a:pPr>
            <a:r>
              <a:rPr sz="750" b="1">
                <a:solidFill>
                  <a:srgbClr val="00783B"/>
                </a:solidFill>
              </a:rPr>
              <a:t>CIRNE ROTAS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D7BE1C2-100B-4C53-A9A9-0813F0AF6791}"/>
              </a:ext>
            </a:extLst>
          </p:cNvPr>
          <p:cNvSpPr>
            <a:spLocks noGrp="1"/>
          </p:cNvSpPr>
          <p:nvPr/>
        </p:nvSpPr>
        <p:spPr>
          <a:xfrm>
            <a:off x="3810000" y="658177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667168"/>
                </a:solidFill>
              </a:defRPr>
            </a:pPr>
            <a:r>
              <a:rPr sz="675" b="0">
                <a:solidFill>
                  <a:srgbClr val="667168"/>
                </a:solidFill>
              </a:rPr>
              <a:t>Mockup conceitual · dados ilustrativos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0E6A656F-D964-4E78-8385-0DBD83216DA9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667168"/>
                </a:solidFill>
              </a:defRPr>
            </a:pPr>
            <a:r>
              <a:rPr sz="750" b="1">
                <a:solidFill>
                  <a:srgbClr val="667168"/>
                </a:solidFill>
              </a:rPr>
              <a:t>08</a:t>
            </a:r>
          </a:p>
        </p:txBody>
      </p:sp>
      <p:pic>
        <p:nvPicPr>
          <p:cNvPr id="62" name="Imagem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53350" y="1285875"/>
            <a:ext cx="2514600" cy="51435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39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7F4FD4CB-3FC8-4639-ABA0-F616E15E5CB9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Ações da concorrência viram sinal comercial acionável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8021668-5A29-49DB-9307-7A4636077EEC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168"/>
                </a:solidFill>
              </a:defRPr>
            </a:pPr>
            <a:r>
              <a:rPr sz="1275" b="0">
                <a:solidFill>
                  <a:srgbClr val="667168"/>
                </a:solidFill>
              </a:rPr>
              <a:t>Um registro curto captura promoções, prazos, bonificações e evidências.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3D254D1-5D5E-4B1F-97E5-E93814226484}"/>
              </a:ext>
            </a:extLst>
          </p:cNvPr>
          <p:cNvSpPr>
            <a:spLocks noGrp="1"/>
          </p:cNvSpPr>
          <p:nvPr/>
        </p:nvSpPr>
        <p:spPr>
          <a:xfrm>
            <a:off x="742950" y="1781175"/>
            <a:ext cx="272415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17F9AB6-1142-4138-9EB8-728D231D2FF5}"/>
              </a:ext>
            </a:extLst>
          </p:cNvPr>
          <p:cNvSpPr>
            <a:spLocks noGrp="1"/>
          </p:cNvSpPr>
          <p:nvPr/>
        </p:nvSpPr>
        <p:spPr>
          <a:xfrm>
            <a:off x="933450" y="19716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86A42E1-76A5-4F02-B4B2-AAE1BB2A13AB}"/>
              </a:ext>
            </a:extLst>
          </p:cNvPr>
          <p:cNvSpPr>
            <a:spLocks noGrp="1"/>
          </p:cNvSpPr>
          <p:nvPr/>
        </p:nvSpPr>
        <p:spPr>
          <a:xfrm>
            <a:off x="933450" y="20383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00783B"/>
                </a:solidFill>
              </a:defRPr>
            </a:pPr>
            <a:r>
              <a:rPr sz="1050" b="1">
                <a:solidFill>
                  <a:srgbClr val="00783B"/>
                </a:solidFill>
              </a:rPr>
              <a:t>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40E50F3-1744-4E51-B8D2-35BA3CC35060}"/>
              </a:ext>
            </a:extLst>
          </p:cNvPr>
          <p:cNvSpPr>
            <a:spLocks noGrp="1"/>
          </p:cNvSpPr>
          <p:nvPr/>
        </p:nvSpPr>
        <p:spPr>
          <a:xfrm>
            <a:off x="1428750" y="19431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21512"/>
                </a:solidFill>
              </a:defRPr>
            </a:pPr>
            <a:r>
              <a:rPr sz="1350" b="1">
                <a:solidFill>
                  <a:srgbClr val="121512"/>
                </a:solidFill>
              </a:rPr>
              <a:t>Identificação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307AA58-F7D2-476B-9D35-CE0DE1A32DDF}"/>
              </a:ext>
            </a:extLst>
          </p:cNvPr>
          <p:cNvSpPr>
            <a:spLocks noGrp="1"/>
          </p:cNvSpPr>
          <p:nvPr/>
        </p:nvSpPr>
        <p:spPr>
          <a:xfrm>
            <a:off x="1428750" y="2314575"/>
            <a:ext cx="1809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67168"/>
                </a:solidFill>
              </a:defRPr>
            </a:pPr>
            <a:r>
              <a:rPr sz="1125" b="0">
                <a:solidFill>
                  <a:srgbClr val="667168"/>
                </a:solidFill>
              </a:rPr>
              <a:t>Marca ou concorrente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53412BC-0D0A-479A-B4D6-665CB293CF57}"/>
              </a:ext>
            </a:extLst>
          </p:cNvPr>
          <p:cNvSpPr>
            <a:spLocks noGrp="1"/>
          </p:cNvSpPr>
          <p:nvPr/>
        </p:nvSpPr>
        <p:spPr>
          <a:xfrm>
            <a:off x="3752850" y="1781175"/>
            <a:ext cx="272415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93026D3-7A0F-4574-9C87-42205B2B9564}"/>
              </a:ext>
            </a:extLst>
          </p:cNvPr>
          <p:cNvSpPr>
            <a:spLocks noGrp="1"/>
          </p:cNvSpPr>
          <p:nvPr/>
        </p:nvSpPr>
        <p:spPr>
          <a:xfrm>
            <a:off x="3943350" y="19716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3595F0A-649D-4BD6-BE15-BBBBD282AD0F}"/>
              </a:ext>
            </a:extLst>
          </p:cNvPr>
          <p:cNvSpPr>
            <a:spLocks noGrp="1"/>
          </p:cNvSpPr>
          <p:nvPr/>
        </p:nvSpPr>
        <p:spPr>
          <a:xfrm>
            <a:off x="3943350" y="20383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00783B"/>
                </a:solidFill>
              </a:defRPr>
            </a:pPr>
            <a:r>
              <a:rPr sz="1050" b="1">
                <a:solidFill>
                  <a:srgbClr val="00783B"/>
                </a:solidFill>
              </a:rPr>
              <a:t>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A9F529F-81DA-44EC-B261-7312CDF8851F}"/>
              </a:ext>
            </a:extLst>
          </p:cNvPr>
          <p:cNvSpPr>
            <a:spLocks noGrp="1"/>
          </p:cNvSpPr>
          <p:nvPr/>
        </p:nvSpPr>
        <p:spPr>
          <a:xfrm>
            <a:off x="4438650" y="19431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21512"/>
                </a:solidFill>
              </a:defRPr>
            </a:pPr>
            <a:r>
              <a:rPr sz="1350" b="1">
                <a:solidFill>
                  <a:srgbClr val="121512"/>
                </a:solidFill>
              </a:rPr>
              <a:t>Tipo de ação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0666CA9-5B3D-43D2-9C5B-79F5985E24F4}"/>
              </a:ext>
            </a:extLst>
          </p:cNvPr>
          <p:cNvSpPr>
            <a:spLocks noGrp="1"/>
          </p:cNvSpPr>
          <p:nvPr/>
        </p:nvSpPr>
        <p:spPr>
          <a:xfrm>
            <a:off x="4438650" y="2314575"/>
            <a:ext cx="1809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67168"/>
                </a:solidFill>
              </a:defRPr>
            </a:pPr>
            <a:r>
              <a:rPr sz="1125" b="0">
                <a:solidFill>
                  <a:srgbClr val="667168"/>
                </a:solidFill>
              </a:rPr>
              <a:t>Desconto, prazo ou bonificação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45DAF79-9965-4AF4-A9A3-C18D32BECC5D}"/>
              </a:ext>
            </a:extLst>
          </p:cNvPr>
          <p:cNvSpPr>
            <a:spLocks noGrp="1"/>
          </p:cNvSpPr>
          <p:nvPr/>
        </p:nvSpPr>
        <p:spPr>
          <a:xfrm>
            <a:off x="742950" y="3267075"/>
            <a:ext cx="272415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E24ACAC-8838-4077-8A7B-296980A7E955}"/>
              </a:ext>
            </a:extLst>
          </p:cNvPr>
          <p:cNvSpPr>
            <a:spLocks noGrp="1"/>
          </p:cNvSpPr>
          <p:nvPr/>
        </p:nvSpPr>
        <p:spPr>
          <a:xfrm>
            <a:off x="933450" y="34575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1B5D471-46F5-442E-B844-08CE0004502D}"/>
              </a:ext>
            </a:extLst>
          </p:cNvPr>
          <p:cNvSpPr>
            <a:spLocks noGrp="1"/>
          </p:cNvSpPr>
          <p:nvPr/>
        </p:nvSpPr>
        <p:spPr>
          <a:xfrm>
            <a:off x="933450" y="35242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00783B"/>
                </a:solidFill>
              </a:defRPr>
            </a:pPr>
            <a:r>
              <a:rPr sz="1050" b="1">
                <a:solidFill>
                  <a:srgbClr val="00783B"/>
                </a:solidFill>
              </a:rPr>
              <a:t>3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6382AF2-9B45-45E8-9D1C-C5CBF18AB186}"/>
              </a:ext>
            </a:extLst>
          </p:cNvPr>
          <p:cNvSpPr>
            <a:spLocks noGrp="1"/>
          </p:cNvSpPr>
          <p:nvPr/>
        </p:nvSpPr>
        <p:spPr>
          <a:xfrm>
            <a:off x="1428750" y="34290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21512"/>
                </a:solidFill>
              </a:defRPr>
            </a:pPr>
            <a:r>
              <a:rPr sz="1350" b="1">
                <a:solidFill>
                  <a:srgbClr val="121512"/>
                </a:solidFill>
              </a:rPr>
              <a:t>Descrição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4079D77-237C-48C9-9E85-266E8C8E7368}"/>
              </a:ext>
            </a:extLst>
          </p:cNvPr>
          <p:cNvSpPr>
            <a:spLocks noGrp="1"/>
          </p:cNvSpPr>
          <p:nvPr/>
        </p:nvSpPr>
        <p:spPr>
          <a:xfrm>
            <a:off x="1428750" y="3800475"/>
            <a:ext cx="1809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67168"/>
                </a:solidFill>
              </a:defRPr>
            </a:pPr>
            <a:r>
              <a:rPr sz="1125" b="0">
                <a:solidFill>
                  <a:srgbClr val="667168"/>
                </a:solidFill>
              </a:rPr>
              <a:t>Condição observada no cliente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88E1FD1-2641-450B-BEE9-722D1E3F3755}"/>
              </a:ext>
            </a:extLst>
          </p:cNvPr>
          <p:cNvSpPr>
            <a:spLocks noGrp="1"/>
          </p:cNvSpPr>
          <p:nvPr/>
        </p:nvSpPr>
        <p:spPr>
          <a:xfrm>
            <a:off x="3752850" y="3267075"/>
            <a:ext cx="272415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9CFE223-387E-4E03-8F6A-EE3E2A617622}"/>
              </a:ext>
            </a:extLst>
          </p:cNvPr>
          <p:cNvSpPr>
            <a:spLocks noGrp="1"/>
          </p:cNvSpPr>
          <p:nvPr/>
        </p:nvSpPr>
        <p:spPr>
          <a:xfrm>
            <a:off x="3943350" y="34575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0E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42B1901-5C5F-447E-9AA0-7F32266E6F2C}"/>
              </a:ext>
            </a:extLst>
          </p:cNvPr>
          <p:cNvSpPr>
            <a:spLocks noGrp="1"/>
          </p:cNvSpPr>
          <p:nvPr/>
        </p:nvSpPr>
        <p:spPr>
          <a:xfrm>
            <a:off x="3943350" y="35242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7900"/>
                </a:solidFill>
              </a:defRPr>
            </a:pPr>
            <a:r>
              <a:rPr sz="1050" b="1">
                <a:solidFill>
                  <a:srgbClr val="FF7900"/>
                </a:solidFill>
              </a:rPr>
              <a:t>4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A5301F3-2676-47EE-B2A6-585450299FA2}"/>
              </a:ext>
            </a:extLst>
          </p:cNvPr>
          <p:cNvSpPr>
            <a:spLocks noGrp="1"/>
          </p:cNvSpPr>
          <p:nvPr/>
        </p:nvSpPr>
        <p:spPr>
          <a:xfrm>
            <a:off x="4438650" y="34290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21512"/>
                </a:solidFill>
              </a:defRPr>
            </a:pPr>
            <a:r>
              <a:rPr sz="1350" b="1">
                <a:solidFill>
                  <a:srgbClr val="121512"/>
                </a:solidFill>
              </a:rPr>
              <a:t>Validade e evidência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27C5B7D-408A-44E3-8B81-8F8214E29405}"/>
              </a:ext>
            </a:extLst>
          </p:cNvPr>
          <p:cNvSpPr>
            <a:spLocks noGrp="1"/>
          </p:cNvSpPr>
          <p:nvPr/>
        </p:nvSpPr>
        <p:spPr>
          <a:xfrm>
            <a:off x="4438650" y="3800475"/>
            <a:ext cx="1809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67168"/>
                </a:solidFill>
              </a:defRPr>
            </a:pPr>
            <a:r>
              <a:rPr sz="1125" b="0">
                <a:solidFill>
                  <a:srgbClr val="667168"/>
                </a:solidFill>
              </a:rPr>
              <a:t>Data e foto opcional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9E3B992-881F-4B95-8BE4-923A108A54A7}"/>
              </a:ext>
            </a:extLst>
          </p:cNvPr>
          <p:cNvSpPr>
            <a:spLocks noGrp="1"/>
          </p:cNvSpPr>
          <p:nvPr/>
        </p:nvSpPr>
        <p:spPr>
          <a:xfrm>
            <a:off x="742950" y="4943475"/>
            <a:ext cx="5734050" cy="790575"/>
          </a:xfrm>
          <a:prstGeom prst="roundRect">
            <a:avLst>
              <a:gd name="adj" fmla="val 21687"/>
            </a:avLst>
          </a:prstGeom>
          <a:solidFill>
            <a:srgbClr val="121512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ED97A6A-A456-4564-873A-6F90C2BE99E9}"/>
              </a:ext>
            </a:extLst>
          </p:cNvPr>
          <p:cNvSpPr>
            <a:spLocks noGrp="1"/>
          </p:cNvSpPr>
          <p:nvPr/>
        </p:nvSpPr>
        <p:spPr>
          <a:xfrm>
            <a:off x="981075" y="513397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FF7900"/>
                </a:solidFill>
              </a:defRPr>
            </a:pPr>
            <a:r>
              <a:rPr sz="1275" b="1">
                <a:solidFill>
                  <a:srgbClr val="FF7900"/>
                </a:solidFill>
              </a:rPr>
              <a:t>Nenhuma ação encontrada?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A3866865-F937-4008-B0E9-6F9B3E46C2DA}"/>
              </a:ext>
            </a:extLst>
          </p:cNvPr>
          <p:cNvSpPr>
            <a:spLocks noGrp="1"/>
          </p:cNvSpPr>
          <p:nvPr/>
        </p:nvSpPr>
        <p:spPr>
          <a:xfrm>
            <a:off x="981075" y="54102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O vendedor confirma a ausência — o informe continua completo.</a:t>
            </a:r>
          </a:p>
        </p:txBody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476CAF77-DE7B-4640-A407-D13A2DCF17DF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2B831EFC-8513-42E1-B31E-207248522C09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00783B"/>
                </a:solidFill>
              </a:defRPr>
            </a:pPr>
            <a:r>
              <a:rPr sz="750" b="1">
                <a:solidFill>
                  <a:srgbClr val="00783B"/>
                </a:solidFill>
              </a:rPr>
              <a:t>CIRNE ROTAS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D7BE1C2-100B-4C53-A9A9-0813F0AF6791}"/>
              </a:ext>
            </a:extLst>
          </p:cNvPr>
          <p:cNvSpPr>
            <a:spLocks noGrp="1"/>
          </p:cNvSpPr>
          <p:nvPr/>
        </p:nvSpPr>
        <p:spPr>
          <a:xfrm>
            <a:off x="3810000" y="658177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667168"/>
                </a:solidFill>
              </a:defRPr>
            </a:pPr>
            <a:r>
              <a:rPr sz="675" b="0">
                <a:solidFill>
                  <a:srgbClr val="667168"/>
                </a:solidFill>
              </a:rPr>
              <a:t>Mockup conceitual · dados ilustrativos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0E6A656F-D964-4E78-8385-0DBD83216DA9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667168"/>
                </a:solidFill>
              </a:defRPr>
            </a:pPr>
            <a:r>
              <a:rPr sz="750" b="1">
                <a:solidFill>
                  <a:srgbClr val="667168"/>
                </a:solidFill>
              </a:rPr>
              <a:t>09</a:t>
            </a:r>
          </a:p>
        </p:txBody>
      </p:sp>
      <p:pic>
        <p:nvPicPr>
          <p:cNvPr id="62" name="Imagem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53350" y="1285875"/>
            <a:ext cx="2514600" cy="51435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39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445EC347-7447-4B1A-8715-A852833F8F0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A sucata entra no mesmo registro da visita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5DE7A14-24DE-4E23-9C5F-52EC8A7F0DD3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168"/>
                </a:solidFill>
              </a:defRPr>
            </a:pPr>
            <a:r>
              <a:rPr sz="1275" b="0">
                <a:solidFill>
                  <a:srgbClr val="667168"/>
                </a:solidFill>
              </a:rPr>
              <a:t>Peso coletado e peso agendado seguem caminhos diferentes.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CA7C8BE-79FD-4094-B6E7-ED4E8861A8D3}"/>
              </a:ext>
            </a:extLst>
          </p:cNvPr>
          <p:cNvSpPr>
            <a:spLocks noGrp="1"/>
          </p:cNvSpPr>
          <p:nvPr/>
        </p:nvSpPr>
        <p:spPr>
          <a:xfrm>
            <a:off x="4933950" y="15811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00783B"/>
                </a:solidFill>
              </a:defRPr>
            </a:pPr>
            <a:r>
              <a:rPr sz="900" b="1">
                <a:solidFill>
                  <a:srgbClr val="00783B"/>
                </a:solidFill>
              </a:rPr>
              <a:t>INFORME OBRIGATÓRIO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B6BF973-567A-43A4-A56E-F92F8A80E058}"/>
              </a:ext>
            </a:extLst>
          </p:cNvPr>
          <p:cNvSpPr>
            <a:spLocks noGrp="1"/>
          </p:cNvSpPr>
          <p:nvPr/>
        </p:nvSpPr>
        <p:spPr>
          <a:xfrm>
            <a:off x="4895850" y="1905000"/>
            <a:ext cx="590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Dois caminhos,</a:t>
            </a:r>
          </a:p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um dado confiável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349CAB1-D201-4EB9-B180-6350F92A5A70}"/>
              </a:ext>
            </a:extLst>
          </p:cNvPr>
          <p:cNvSpPr>
            <a:spLocks noGrp="1"/>
          </p:cNvSpPr>
          <p:nvPr/>
        </p:nvSpPr>
        <p:spPr>
          <a:xfrm>
            <a:off x="4933950" y="3133725"/>
            <a:ext cx="266700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B66FF90-1253-4E84-99C5-1E9812DEF527}"/>
              </a:ext>
            </a:extLst>
          </p:cNvPr>
          <p:cNvSpPr>
            <a:spLocks noGrp="1"/>
          </p:cNvSpPr>
          <p:nvPr/>
        </p:nvSpPr>
        <p:spPr>
          <a:xfrm>
            <a:off x="4933950" y="3133725"/>
            <a:ext cx="76200" cy="1200150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FC918AA-5E3C-4B62-9961-C793C9F55E09}"/>
              </a:ext>
            </a:extLst>
          </p:cNvPr>
          <p:cNvSpPr>
            <a:spLocks noGrp="1"/>
          </p:cNvSpPr>
          <p:nvPr/>
        </p:nvSpPr>
        <p:spPr>
          <a:xfrm>
            <a:off x="5200650" y="337185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121512"/>
                </a:solidFill>
              </a:defRPr>
            </a:pPr>
            <a:r>
              <a:rPr sz="2250" b="1">
                <a:solidFill>
                  <a:srgbClr val="121512"/>
                </a:solidFill>
              </a:rPr>
              <a:t>185 kg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498A052-68E6-4521-AF62-BF6DF790BAB8}"/>
              </a:ext>
            </a:extLst>
          </p:cNvPr>
          <p:cNvSpPr>
            <a:spLocks noGrp="1"/>
          </p:cNvSpPr>
          <p:nvPr/>
        </p:nvSpPr>
        <p:spPr>
          <a:xfrm>
            <a:off x="5200650" y="38290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>
                <a:solidFill>
                  <a:srgbClr val="667168"/>
                </a:solidFill>
              </a:defRPr>
            </a:pPr>
            <a:r>
              <a:rPr sz="1163" b="0">
                <a:solidFill>
                  <a:srgbClr val="667168"/>
                </a:solidFill>
              </a:rPr>
              <a:t>Coletada pelo vendedor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D4BA441-1735-40A2-99A5-70FA4442A433}"/>
              </a:ext>
            </a:extLst>
          </p:cNvPr>
          <p:cNvSpPr>
            <a:spLocks noGrp="1"/>
          </p:cNvSpPr>
          <p:nvPr/>
        </p:nvSpPr>
        <p:spPr>
          <a:xfrm>
            <a:off x="7848600" y="3133725"/>
            <a:ext cx="266700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6750E08-CF32-4899-90FF-8DE57529F9C8}"/>
              </a:ext>
            </a:extLst>
          </p:cNvPr>
          <p:cNvSpPr>
            <a:spLocks noGrp="1"/>
          </p:cNvSpPr>
          <p:nvPr/>
        </p:nvSpPr>
        <p:spPr>
          <a:xfrm>
            <a:off x="7848600" y="3133725"/>
            <a:ext cx="76200" cy="1200150"/>
          </a:xfrm>
          <a:prstGeom prst="roundRect">
            <a:avLst>
              <a:gd name="adj" fmla="val 50000"/>
            </a:avLst>
          </a:prstGeom>
          <a:solidFill>
            <a:srgbClr val="215A9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27DFB9F-1F5A-4EE5-A43E-E1C5034B5C0A}"/>
              </a:ext>
            </a:extLst>
          </p:cNvPr>
          <p:cNvSpPr>
            <a:spLocks noGrp="1"/>
          </p:cNvSpPr>
          <p:nvPr/>
        </p:nvSpPr>
        <p:spPr>
          <a:xfrm>
            <a:off x="8115300" y="337185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121512"/>
                </a:solidFill>
              </a:defRPr>
            </a:pPr>
            <a:r>
              <a:rPr sz="2250" b="1">
                <a:solidFill>
                  <a:srgbClr val="121512"/>
                </a:solidFill>
              </a:rPr>
              <a:t>240 kg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713346D-8867-4442-96ED-C4AE13203117}"/>
              </a:ext>
            </a:extLst>
          </p:cNvPr>
          <p:cNvSpPr>
            <a:spLocks noGrp="1"/>
          </p:cNvSpPr>
          <p:nvPr/>
        </p:nvSpPr>
        <p:spPr>
          <a:xfrm>
            <a:off x="8115300" y="38290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>
                <a:solidFill>
                  <a:srgbClr val="667168"/>
                </a:solidFill>
              </a:defRPr>
            </a:pPr>
            <a:r>
              <a:rPr sz="1163" b="0">
                <a:solidFill>
                  <a:srgbClr val="667168"/>
                </a:solidFill>
              </a:rPr>
              <a:t>Agendada para a logística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8806B97-BEFE-44C0-89BA-5BD06BA2C743}"/>
              </a:ext>
            </a:extLst>
          </p:cNvPr>
          <p:cNvSpPr>
            <a:spLocks noGrp="1"/>
          </p:cNvSpPr>
          <p:nvPr/>
        </p:nvSpPr>
        <p:spPr>
          <a:xfrm>
            <a:off x="4933950" y="4572000"/>
            <a:ext cx="5581650" cy="1171575"/>
          </a:xfrm>
          <a:prstGeom prst="roundRect">
            <a:avLst>
              <a:gd name="adj" fmla="val 1626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4F3C5F3-C29A-4ECB-95F2-1DD13B9824CC}"/>
              </a:ext>
            </a:extLst>
          </p:cNvPr>
          <p:cNvSpPr>
            <a:spLocks noGrp="1"/>
          </p:cNvSpPr>
          <p:nvPr/>
        </p:nvSpPr>
        <p:spPr>
          <a:xfrm>
            <a:off x="5210175" y="4810125"/>
            <a:ext cx="1190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00" b="1">
                <a:solidFill>
                  <a:srgbClr val="00783B"/>
                </a:solidFill>
              </a:defRPr>
            </a:pPr>
            <a:r>
              <a:rPr sz="2400" b="1">
                <a:solidFill>
                  <a:srgbClr val="00783B"/>
                </a:solidFill>
              </a:rPr>
              <a:t>08/09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721C70B-2A21-4A2E-A9D0-ED781AE420FD}"/>
              </a:ext>
            </a:extLst>
          </p:cNvPr>
          <p:cNvSpPr>
            <a:spLocks noGrp="1"/>
          </p:cNvSpPr>
          <p:nvPr/>
        </p:nvSpPr>
        <p:spPr>
          <a:xfrm>
            <a:off x="6477000" y="4829175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121512"/>
                </a:solidFill>
              </a:defRPr>
            </a:pPr>
            <a:r>
              <a:rPr sz="1500" b="1">
                <a:solidFill>
                  <a:srgbClr val="121512"/>
                </a:solidFill>
              </a:rPr>
              <a:t>Data solicitada para a coleta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C1874E2-188B-4A0D-BBB8-F3A14199CA55}"/>
              </a:ext>
            </a:extLst>
          </p:cNvPr>
          <p:cNvSpPr>
            <a:spLocks noGrp="1"/>
          </p:cNvSpPr>
          <p:nvPr/>
        </p:nvSpPr>
        <p:spPr>
          <a:xfrm>
            <a:off x="5219700" y="5314950"/>
            <a:ext cx="4905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0">
                <a:solidFill>
                  <a:srgbClr val="667168"/>
                </a:solidFill>
              </a:defRPr>
            </a:pPr>
            <a:r>
              <a:rPr sz="1163" b="0">
                <a:solidFill>
                  <a:srgbClr val="667168"/>
                </a:solidFill>
              </a:rPr>
              <a:t>Coleta imediata exige peso real, canhoto e vendedor. Agendamento exige peso estimado e data.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7A391C27-EA39-4C70-A847-582F22D71E1B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6423434-4098-4217-8ED7-52A06F5CCB0B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00783B"/>
                </a:solidFill>
              </a:defRPr>
            </a:pPr>
            <a:r>
              <a:rPr sz="750" b="1">
                <a:solidFill>
                  <a:srgbClr val="00783B"/>
                </a:solidFill>
              </a:rPr>
              <a:t>CIRNE ROTAS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64C4BF8-F05A-4622-B4EF-1264FAC62058}"/>
              </a:ext>
            </a:extLst>
          </p:cNvPr>
          <p:cNvSpPr>
            <a:spLocks noGrp="1"/>
          </p:cNvSpPr>
          <p:nvPr/>
        </p:nvSpPr>
        <p:spPr>
          <a:xfrm>
            <a:off x="3810000" y="658177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667168"/>
                </a:solidFill>
              </a:defRPr>
            </a:pPr>
            <a:r>
              <a:rPr sz="675" b="0">
                <a:solidFill>
                  <a:srgbClr val="667168"/>
                </a:solidFill>
              </a:rPr>
              <a:t>Mockup conceitual · dados ilustrativos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CB1B77F-6669-4878-99DD-47BDD2FCE177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667168"/>
                </a:solidFill>
              </a:defRPr>
            </a:pPr>
            <a:r>
              <a:rPr sz="750" b="1">
                <a:solidFill>
                  <a:srgbClr val="667168"/>
                </a:solidFill>
              </a:rPr>
              <a:t>10</a:t>
            </a:r>
          </a:p>
        </p:txBody>
      </p:sp>
      <p:pic>
        <p:nvPicPr>
          <p:cNvPr id="44" name="Imagem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1100" y="1285875"/>
            <a:ext cx="2514600" cy="51435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31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title">
            <a:extLst>
              <a:ext uri="{FF2B5EF4-FFF2-40B4-BE49-F238E27FC236}">
                <a16:creationId xmlns:a16="http://schemas.microsoft.com/office/drawing/2014/main" id="{A4D0A08A-4269-496F-B258-E5A51C66FCEC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 visita termina com um registro completo e acionável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643F379-D37E-4E61-A6E5-FF683E904B30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D7E9DE"/>
                </a:solidFill>
              </a:defRPr>
            </a:pPr>
            <a:r>
              <a:rPr sz="1275" b="0">
                <a:solidFill>
                  <a:srgbClr val="D7E9DE"/>
                </a:solidFill>
              </a:rPr>
              <a:t>Um único encerramento reúne mercado, sucata, GPS e próxima ação.</a:t>
            </a:r>
          </a:p>
        </p:txBody>
      </p:sp>
      <p:pic>
        <p:nvPicPr>
          <p:cNvPr id="32" name="Imagem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95823" y="1266825"/>
            <a:ext cx="2551853" cy="5219700"/>
          </a:xfrm>
          <a:prstGeom prst="roundRect">
            <a:avLst/>
          </a:prstGeom>
        </p:spPr>
      </p:pic>
      <p:pic>
        <p:nvPicPr>
          <p:cNvPr id="33" name="Imagem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86698" y="1266825"/>
            <a:ext cx="2551853" cy="5219700"/>
          </a:xfrm>
          <a:prstGeom prst="round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F9C3868-448F-4240-981C-AC24330A0E6F}"/>
              </a:ext>
            </a:extLst>
          </p:cNvPr>
          <p:cNvSpPr>
            <a:spLocks noGrp="1"/>
          </p:cNvSpPr>
          <p:nvPr/>
        </p:nvSpPr>
        <p:spPr>
          <a:xfrm>
            <a:off x="7839075" y="16192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FF7900"/>
                </a:solidFill>
              </a:defRPr>
            </a:pPr>
            <a:r>
              <a:rPr sz="900" b="1">
                <a:solidFill>
                  <a:srgbClr val="FF7900"/>
                </a:solidFill>
              </a:rPr>
              <a:t>O QUE FICA REGISTRADO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1836331-9057-4F0A-AD28-2085E0FD6BDE}"/>
              </a:ext>
            </a:extLst>
          </p:cNvPr>
          <p:cNvSpPr>
            <a:spLocks noGrp="1"/>
          </p:cNvSpPr>
          <p:nvPr/>
        </p:nvSpPr>
        <p:spPr>
          <a:xfrm>
            <a:off x="7839075" y="20955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0D5D37"/>
          </a:solidFill>
          <a:ln w="9525">
            <a:solidFill>
              <a:srgbClr val="3E80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ECBFD17-699F-4A57-8EE6-4BA82205E3AB}"/>
              </a:ext>
            </a:extLst>
          </p:cNvPr>
          <p:cNvSpPr>
            <a:spLocks noGrp="1"/>
          </p:cNvSpPr>
          <p:nvPr/>
        </p:nvSpPr>
        <p:spPr>
          <a:xfrm>
            <a:off x="7839075" y="2133600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8BE5B1"/>
                </a:solidFill>
              </a:defRPr>
            </a:pPr>
            <a:r>
              <a:rPr sz="825" b="1">
                <a:solidFill>
                  <a:srgbClr val="8BE5B1"/>
                </a:solidFill>
              </a:rPr>
              <a:t>✓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B052464-AFBD-4163-919C-AEF938E0B36C}"/>
              </a:ext>
            </a:extLst>
          </p:cNvPr>
          <p:cNvSpPr>
            <a:spLocks noGrp="1"/>
          </p:cNvSpPr>
          <p:nvPr/>
        </p:nvSpPr>
        <p:spPr>
          <a:xfrm>
            <a:off x="8229600" y="20955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Cliente e vendedor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13E535C-09BC-4D5A-87BB-F1F026B710C9}"/>
              </a:ext>
            </a:extLst>
          </p:cNvPr>
          <p:cNvSpPr>
            <a:spLocks noGrp="1"/>
          </p:cNvSpPr>
          <p:nvPr/>
        </p:nvSpPr>
        <p:spPr>
          <a:xfrm>
            <a:off x="7839075" y="26955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0D5D37"/>
          </a:solidFill>
          <a:ln w="9525">
            <a:solidFill>
              <a:srgbClr val="3E80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34798F-C570-40EB-96EE-F0A10767260B}"/>
              </a:ext>
            </a:extLst>
          </p:cNvPr>
          <p:cNvSpPr>
            <a:spLocks noGrp="1"/>
          </p:cNvSpPr>
          <p:nvPr/>
        </p:nvSpPr>
        <p:spPr>
          <a:xfrm>
            <a:off x="7839075" y="2733675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8BE5B1"/>
                </a:solidFill>
              </a:defRPr>
            </a:pPr>
            <a:r>
              <a:rPr sz="825" b="1">
                <a:solidFill>
                  <a:srgbClr val="8BE5B1"/>
                </a:solidFill>
              </a:rPr>
              <a:t>✓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375D485-879F-47D8-B143-8F94B44675F4}"/>
              </a:ext>
            </a:extLst>
          </p:cNvPr>
          <p:cNvSpPr>
            <a:spLocks noGrp="1"/>
          </p:cNvSpPr>
          <p:nvPr/>
        </p:nvSpPr>
        <p:spPr>
          <a:xfrm>
            <a:off x="8229600" y="269557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Data, horário e GPS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86536A9-CAF8-4526-9CCA-7050033DBAA0}"/>
              </a:ext>
            </a:extLst>
          </p:cNvPr>
          <p:cNvSpPr>
            <a:spLocks noGrp="1"/>
          </p:cNvSpPr>
          <p:nvPr/>
        </p:nvSpPr>
        <p:spPr>
          <a:xfrm>
            <a:off x="7839075" y="32956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0D5D37"/>
          </a:solidFill>
          <a:ln w="9525">
            <a:solidFill>
              <a:srgbClr val="3E80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4AECBB9-EC37-4BA6-94A4-75A39F720A2C}"/>
              </a:ext>
            </a:extLst>
          </p:cNvPr>
          <p:cNvSpPr>
            <a:spLocks noGrp="1"/>
          </p:cNvSpPr>
          <p:nvPr/>
        </p:nvSpPr>
        <p:spPr>
          <a:xfrm>
            <a:off x="7839075" y="3333750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8BE5B1"/>
                </a:solidFill>
              </a:defRPr>
            </a:pPr>
            <a:r>
              <a:rPr sz="825" b="1">
                <a:solidFill>
                  <a:srgbClr val="8BE5B1"/>
                </a:solidFill>
              </a:rPr>
              <a:t>✓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B3CDE90-A734-4636-84C9-1F946CE53561}"/>
              </a:ext>
            </a:extLst>
          </p:cNvPr>
          <p:cNvSpPr>
            <a:spLocks noGrp="1"/>
          </p:cNvSpPr>
          <p:nvPr/>
        </p:nvSpPr>
        <p:spPr>
          <a:xfrm>
            <a:off x="8229600" y="32956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Estoque Heliar e Moura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325F407-FD72-467A-B3CB-2DFAB6194596}"/>
              </a:ext>
            </a:extLst>
          </p:cNvPr>
          <p:cNvSpPr>
            <a:spLocks noGrp="1"/>
          </p:cNvSpPr>
          <p:nvPr/>
        </p:nvSpPr>
        <p:spPr>
          <a:xfrm>
            <a:off x="7839075" y="38957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0D5D37"/>
          </a:solidFill>
          <a:ln w="9525">
            <a:solidFill>
              <a:srgbClr val="3E80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D619C62-A967-4376-9B1E-0D0743A65F1C}"/>
              </a:ext>
            </a:extLst>
          </p:cNvPr>
          <p:cNvSpPr>
            <a:spLocks noGrp="1"/>
          </p:cNvSpPr>
          <p:nvPr/>
        </p:nvSpPr>
        <p:spPr>
          <a:xfrm>
            <a:off x="7839075" y="3933825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8BE5B1"/>
                </a:solidFill>
              </a:defRPr>
            </a:pPr>
            <a:r>
              <a:rPr sz="825" b="1">
                <a:solidFill>
                  <a:srgbClr val="8BE5B1"/>
                </a:solidFill>
              </a:rPr>
              <a:t>✓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517BFEE-AF77-4A57-9DF1-556F42783918}"/>
              </a:ext>
            </a:extLst>
          </p:cNvPr>
          <p:cNvSpPr>
            <a:spLocks noGrp="1"/>
          </p:cNvSpPr>
          <p:nvPr/>
        </p:nvSpPr>
        <p:spPr>
          <a:xfrm>
            <a:off x="8229600" y="389572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Preços e ações concorrentes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E67E75C-6E82-4A8F-A807-756EF13CA12C}"/>
              </a:ext>
            </a:extLst>
          </p:cNvPr>
          <p:cNvSpPr>
            <a:spLocks noGrp="1"/>
          </p:cNvSpPr>
          <p:nvPr/>
        </p:nvSpPr>
        <p:spPr>
          <a:xfrm>
            <a:off x="7839075" y="44958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0D5D37"/>
          </a:solidFill>
          <a:ln w="9525">
            <a:solidFill>
              <a:srgbClr val="3E80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F4AF0E0-F379-4EC9-9429-D2A4E53A192F}"/>
              </a:ext>
            </a:extLst>
          </p:cNvPr>
          <p:cNvSpPr>
            <a:spLocks noGrp="1"/>
          </p:cNvSpPr>
          <p:nvPr/>
        </p:nvSpPr>
        <p:spPr>
          <a:xfrm>
            <a:off x="7839075" y="4533900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8BE5B1"/>
                </a:solidFill>
              </a:defRPr>
            </a:pPr>
            <a:r>
              <a:rPr sz="825" b="1">
                <a:solidFill>
                  <a:srgbClr val="8BE5B1"/>
                </a:solidFill>
              </a:rPr>
              <a:t>✓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3B8F9F3-1731-4E06-A89E-2D8F41DC31DD}"/>
              </a:ext>
            </a:extLst>
          </p:cNvPr>
          <p:cNvSpPr>
            <a:spLocks noGrp="1"/>
          </p:cNvSpPr>
          <p:nvPr/>
        </p:nvSpPr>
        <p:spPr>
          <a:xfrm>
            <a:off x="8229600" y="44958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Sucata e resultado da visita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3090C38-CEDB-400D-B110-03CC93C32452}"/>
              </a:ext>
            </a:extLst>
          </p:cNvPr>
          <p:cNvSpPr>
            <a:spLocks noGrp="1"/>
          </p:cNvSpPr>
          <p:nvPr/>
        </p:nvSpPr>
        <p:spPr>
          <a:xfrm>
            <a:off x="7839075" y="5353050"/>
            <a:ext cx="3238500" cy="695325"/>
          </a:xfrm>
          <a:prstGeom prst="roundRect">
            <a:avLst>
              <a:gd name="adj" fmla="val 21918"/>
            </a:avLst>
          </a:prstGeom>
          <a:solidFill>
            <a:srgbClr val="0D482C"/>
          </a:solidFill>
          <a:ln w="9525">
            <a:solidFill>
              <a:srgbClr val="2E6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514BB05-F295-4E1D-B819-A7C63444B2C3}"/>
              </a:ext>
            </a:extLst>
          </p:cNvPr>
          <p:cNvSpPr>
            <a:spLocks noGrp="1"/>
          </p:cNvSpPr>
          <p:nvPr/>
        </p:nvSpPr>
        <p:spPr>
          <a:xfrm>
            <a:off x="8048625" y="5514975"/>
            <a:ext cx="281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D1E7D8"/>
                </a:solidFill>
              </a:defRPr>
            </a:pPr>
            <a:r>
              <a:rPr sz="1275" b="1">
                <a:solidFill>
                  <a:srgbClr val="D1E7D8"/>
                </a:solidFill>
              </a:rPr>
              <a:t>Menos cliques para o vendedor.</a:t>
            </a:r>
          </a:p>
          <a:p>
            <a:pPr algn="ctr">
              <a:buNone/>
              <a:defRPr sz="1275" b="1">
                <a:solidFill>
                  <a:srgbClr val="D1E7D8"/>
                </a:solidFill>
              </a:defRPr>
            </a:pPr>
            <a:r>
              <a:rPr sz="1275" b="1">
                <a:solidFill>
                  <a:srgbClr val="D1E7D8"/>
                </a:solidFill>
              </a:rPr>
              <a:t>Mais consistência para a gestão.</a:t>
            </a:r>
          </a:p>
        </p:txBody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E930ECB0-EB55-4425-ADDB-FE69BDE59272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315B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2D647BB-2294-4FAC-A91A-637FCBC04BB7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C8DED1"/>
                </a:solidFill>
              </a:defRPr>
            </a:pPr>
            <a:r>
              <a:rPr sz="750" b="1">
                <a:solidFill>
                  <a:srgbClr val="C8DED1"/>
                </a:solidFill>
              </a:rPr>
              <a:t>CIRNE ROTAS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5E0ED06-4F91-4284-8997-EBEE64F292EA}"/>
              </a:ext>
            </a:extLst>
          </p:cNvPr>
          <p:cNvSpPr>
            <a:spLocks noGrp="1"/>
          </p:cNvSpPr>
          <p:nvPr/>
        </p:nvSpPr>
        <p:spPr>
          <a:xfrm>
            <a:off x="3810000" y="658177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AFC8B8"/>
                </a:solidFill>
              </a:defRPr>
            </a:pPr>
            <a:r>
              <a:rPr sz="675" b="0">
                <a:solidFill>
                  <a:srgbClr val="AFC8B8"/>
                </a:solidFill>
              </a:rPr>
              <a:t>Mockups conceituais · dados ilustrativos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38D7FF34-7588-4232-961B-97EAFA737903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C8DED1"/>
                </a:solidFill>
              </a:defRPr>
            </a:pPr>
            <a:r>
              <a:rPr sz="750" b="1">
                <a:solidFill>
                  <a:srgbClr val="C8DED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44163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11B2BB18-97C2-48C5-9065-A2A90ADEE3D9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O gestor monta e publica a rota em poucos passos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8E6742B-CD24-479B-9277-3D2D53F1F7E3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168"/>
                </a:solidFill>
              </a:defRPr>
            </a:pPr>
            <a:r>
              <a:rPr sz="1275" b="0">
                <a:solidFill>
                  <a:srgbClr val="667168"/>
                </a:solidFill>
              </a:rPr>
              <a:t>Data, vendedor, clientes e ordem — sem depender de roteirização avançada.</a:t>
            </a: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05263" y="1314450"/>
            <a:ext cx="8181474" cy="4857750"/>
          </a:xfrm>
          <a:prstGeom prst="round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E0751DD-FF59-42BD-9722-36EBDC70BBFD}"/>
              </a:ext>
            </a:extLst>
          </p:cNvPr>
          <p:cNvSpPr>
            <a:spLocks noGrp="1"/>
          </p:cNvSpPr>
          <p:nvPr/>
        </p:nvSpPr>
        <p:spPr>
          <a:xfrm>
            <a:off x="1428750" y="5905500"/>
            <a:ext cx="9334500" cy="400050"/>
          </a:xfrm>
          <a:prstGeom prst="roundRect">
            <a:avLst>
              <a:gd name="adj" fmla="val 33333"/>
            </a:avLst>
          </a:prstGeom>
          <a:solidFill>
            <a:srgbClr val="FFF0E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1E6561E-B37F-4068-9657-B6DD8192E634}"/>
              </a:ext>
            </a:extLst>
          </p:cNvPr>
          <p:cNvSpPr>
            <a:spLocks noGrp="1"/>
          </p:cNvSpPr>
          <p:nvPr/>
        </p:nvSpPr>
        <p:spPr>
          <a:xfrm>
            <a:off x="1666875" y="5991225"/>
            <a:ext cx="885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A64B00"/>
                </a:solidFill>
              </a:defRPr>
            </a:pPr>
            <a:r>
              <a:rPr sz="1275" b="1">
                <a:solidFill>
                  <a:srgbClr val="A64B00"/>
                </a:solidFill>
              </a:rPr>
              <a:t>Selecionar clientes  →  ordenar  →  publicar</a:t>
            </a:r>
          </a:p>
        </p:txBody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81E340AB-07CA-4E7F-A530-4BD0181C803E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F34D9F3-4965-47FB-871F-38FF001D2356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00783B"/>
                </a:solidFill>
              </a:defRPr>
            </a:pPr>
            <a:r>
              <a:rPr sz="750" b="1">
                <a:solidFill>
                  <a:srgbClr val="00783B"/>
                </a:solidFill>
              </a:rPr>
              <a:t>CIRNE ROTAS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CD02C66-D9F6-429E-95D7-391CAC9E2F6E}"/>
              </a:ext>
            </a:extLst>
          </p:cNvPr>
          <p:cNvSpPr>
            <a:spLocks noGrp="1"/>
          </p:cNvSpPr>
          <p:nvPr/>
        </p:nvSpPr>
        <p:spPr>
          <a:xfrm>
            <a:off x="3810000" y="658177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667168"/>
                </a:solidFill>
              </a:defRPr>
            </a:pPr>
            <a:r>
              <a:rPr sz="675" b="0">
                <a:solidFill>
                  <a:srgbClr val="667168"/>
                </a:solidFill>
              </a:rPr>
              <a:t>Mockup conceitual · dados ilustrativos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8A42D86-0302-48B4-B581-D132186DF1F4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667168"/>
                </a:solidFill>
              </a:defRPr>
            </a:pPr>
            <a:r>
              <a:rPr sz="750" b="1">
                <a:solidFill>
                  <a:srgbClr val="66716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93614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EEDAFF8A-1BFD-4898-A450-CEF1DEA178B5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O retorno da visita vira decisão no mesmo painel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1D3AB32-39B1-4C80-9747-8951C311FB3F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168"/>
                </a:solidFill>
              </a:defRPr>
            </a:pPr>
            <a:r>
              <a:rPr sz="1275" b="0">
                <a:solidFill>
                  <a:srgbClr val="667168"/>
                </a:solidFill>
              </a:rPr>
              <a:t>Execução, mercado, sucata realizada e agenda logística compartilham a mesma fonte.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05263" y="1323975"/>
            <a:ext cx="8181474" cy="4857750"/>
          </a:xfrm>
          <a:prstGeom prst="roundRect">
            <a:avLst/>
          </a:prstGeom>
        </p:spPr>
      </p:pic>
      <p:sp>
        <p:nvSpPr>
          <p:cNvPr id="4" name="Conector reto 3">
            <a:extLst>
              <a:ext uri="{FF2B5EF4-FFF2-40B4-BE49-F238E27FC236}">
                <a16:creationId xmlns:a16="http://schemas.microsoft.com/office/drawing/2014/main" id="{37E8D117-B8EB-421A-BBEE-0A2E55D3FD55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2BCFBB5-7C93-46EC-BD21-8F2513ECE49C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00783B"/>
                </a:solidFill>
              </a:defRPr>
            </a:pPr>
            <a:r>
              <a:rPr sz="750" b="1">
                <a:solidFill>
                  <a:srgbClr val="00783B"/>
                </a:solidFill>
              </a:rPr>
              <a:t>CIRNE ROTAS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3D21D5E-7A1E-458C-9F2B-7FBF01CE815B}"/>
              </a:ext>
            </a:extLst>
          </p:cNvPr>
          <p:cNvSpPr>
            <a:spLocks noGrp="1"/>
          </p:cNvSpPr>
          <p:nvPr/>
        </p:nvSpPr>
        <p:spPr>
          <a:xfrm>
            <a:off x="3810000" y="6581775"/>
            <a:ext cx="457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0">
                <a:solidFill>
                  <a:srgbClr val="667168"/>
                </a:solidFill>
              </a:defRPr>
            </a:pPr>
            <a:r>
              <a:rPr sz="675" b="0">
                <a:solidFill>
                  <a:srgbClr val="667168"/>
                </a:solidFill>
              </a:rPr>
              <a:t>Mockup conceitual · dados ilustrativos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5BFB81D-C9D4-4D07-83CE-11AA438CCA9F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667168"/>
                </a:solidFill>
              </a:defRPr>
            </a:pPr>
            <a:r>
              <a:rPr sz="750" b="1">
                <a:solidFill>
                  <a:srgbClr val="66716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66887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title">
            <a:extLst>
              <a:ext uri="{FF2B5EF4-FFF2-40B4-BE49-F238E27FC236}">
                <a16:creationId xmlns:a16="http://schemas.microsoft.com/office/drawing/2014/main" id="{C7B77301-31C4-4B85-896B-091AA8031E2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O aplicativo cria quatro visões acionáveis para a operação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E884B95-DFF3-42A9-951E-70F13EA01CFF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168"/>
                </a:solidFill>
              </a:defRPr>
            </a:pPr>
            <a:r>
              <a:rPr sz="1275" b="0">
                <a:solidFill>
                  <a:srgbClr val="667168"/>
                </a:solidFill>
              </a:rPr>
              <a:t>O valor está em transformar cada visita em decisão comercial e operacional.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821573C-4DB2-403D-A604-43E70EB2EB14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086350" cy="1809750"/>
          </a:xfrm>
          <a:prstGeom prst="roundRect">
            <a:avLst>
              <a:gd name="adj" fmla="val 11579"/>
            </a:avLst>
          </a:prstGeom>
          <a:solidFill>
            <a:srgbClr val="F3F6F4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74308EF-8D2D-453F-9E2A-C89E5E92264C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14300" cy="1809750"/>
          </a:xfrm>
          <a:prstGeom prst="roundRect">
            <a:avLst>
              <a:gd name="adj" fmla="val 50000"/>
            </a:avLst>
          </a:prstGeom>
          <a:solidFill>
            <a:srgbClr val="00A65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163DE00-DE2A-4701-AB4F-366FA016EAAC}"/>
              </a:ext>
            </a:extLst>
          </p:cNvPr>
          <p:cNvSpPr>
            <a:spLocks noGrp="1"/>
          </p:cNvSpPr>
          <p:nvPr/>
        </p:nvSpPr>
        <p:spPr>
          <a:xfrm>
            <a:off x="1047750" y="1933575"/>
            <a:ext cx="433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00A651"/>
                </a:solidFill>
              </a:defRPr>
            </a:pPr>
            <a:r>
              <a:rPr sz="825" b="1">
                <a:solidFill>
                  <a:srgbClr val="00A651"/>
                </a:solidFill>
              </a:rPr>
              <a:t>EXECUÇÃO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E635A48-3AA4-44A0-A7DA-D488359A8C65}"/>
              </a:ext>
            </a:extLst>
          </p:cNvPr>
          <p:cNvSpPr>
            <a:spLocks noGrp="1"/>
          </p:cNvSpPr>
          <p:nvPr/>
        </p:nvSpPr>
        <p:spPr>
          <a:xfrm>
            <a:off x="1047750" y="2257425"/>
            <a:ext cx="4333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21512"/>
                </a:solidFill>
              </a:defRPr>
            </a:pPr>
            <a:r>
              <a:rPr sz="1875" b="1">
                <a:solidFill>
                  <a:srgbClr val="121512"/>
                </a:solidFill>
              </a:rPr>
              <a:t>Planejado × visitado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F0CD5B5-68F1-4E7E-9FE5-5564B828FF9C}"/>
              </a:ext>
            </a:extLst>
          </p:cNvPr>
          <p:cNvSpPr>
            <a:spLocks noGrp="1"/>
          </p:cNvSpPr>
          <p:nvPr/>
        </p:nvSpPr>
        <p:spPr>
          <a:xfrm>
            <a:off x="1047750" y="2743200"/>
            <a:ext cx="4238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0">
                <a:solidFill>
                  <a:srgbClr val="667168"/>
                </a:solidFill>
              </a:defRPr>
            </a:pPr>
            <a:r>
              <a:rPr sz="1238" b="0">
                <a:solidFill>
                  <a:srgbClr val="667168"/>
                </a:solidFill>
              </a:rPr>
              <a:t>Saber onde a rota ficou incompleta e agir rapidamente.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759FF96-FF37-416A-B0C0-E5094C453971}"/>
              </a:ext>
            </a:extLst>
          </p:cNvPr>
          <p:cNvSpPr>
            <a:spLocks noGrp="1"/>
          </p:cNvSpPr>
          <p:nvPr/>
        </p:nvSpPr>
        <p:spPr>
          <a:xfrm>
            <a:off x="6153150" y="1676400"/>
            <a:ext cx="5086350" cy="1809750"/>
          </a:xfrm>
          <a:prstGeom prst="roundRect">
            <a:avLst>
              <a:gd name="adj" fmla="val 11579"/>
            </a:avLst>
          </a:prstGeom>
          <a:solidFill>
            <a:srgbClr val="F3F6F4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E6E5317-7461-494C-AB7D-5DC23C7AED92}"/>
              </a:ext>
            </a:extLst>
          </p:cNvPr>
          <p:cNvSpPr>
            <a:spLocks noGrp="1"/>
          </p:cNvSpPr>
          <p:nvPr/>
        </p:nvSpPr>
        <p:spPr>
          <a:xfrm>
            <a:off x="6153150" y="1676400"/>
            <a:ext cx="114300" cy="1809750"/>
          </a:xfrm>
          <a:prstGeom prst="roundRect">
            <a:avLst>
              <a:gd name="adj" fmla="val 50000"/>
            </a:avLst>
          </a:prstGeom>
          <a:solidFill>
            <a:srgbClr val="215A9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5AEF379-CADE-47B9-A06D-C28CF8F94FDE}"/>
              </a:ext>
            </a:extLst>
          </p:cNvPr>
          <p:cNvSpPr>
            <a:spLocks noGrp="1"/>
          </p:cNvSpPr>
          <p:nvPr/>
        </p:nvSpPr>
        <p:spPr>
          <a:xfrm>
            <a:off x="6515100" y="1933575"/>
            <a:ext cx="433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215A9C"/>
                </a:solidFill>
              </a:defRPr>
            </a:pPr>
            <a:r>
              <a:rPr sz="825" b="1">
                <a:solidFill>
                  <a:srgbClr val="215A9C"/>
                </a:solidFill>
              </a:rPr>
              <a:t>MERCADO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9F723F-B96C-46AB-9C69-A6CDC507ABE8}"/>
              </a:ext>
            </a:extLst>
          </p:cNvPr>
          <p:cNvSpPr>
            <a:spLocks noGrp="1"/>
          </p:cNvSpPr>
          <p:nvPr/>
        </p:nvSpPr>
        <p:spPr>
          <a:xfrm>
            <a:off x="6515100" y="2257425"/>
            <a:ext cx="4333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21512"/>
                </a:solidFill>
              </a:defRPr>
            </a:pPr>
            <a:r>
              <a:rPr sz="1875" b="1">
                <a:solidFill>
                  <a:srgbClr val="121512"/>
                </a:solidFill>
              </a:rPr>
              <a:t>Presença e preço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C256A05-E554-4A9F-B645-46E20D6E6EF1}"/>
              </a:ext>
            </a:extLst>
          </p:cNvPr>
          <p:cNvSpPr>
            <a:spLocks noGrp="1"/>
          </p:cNvSpPr>
          <p:nvPr/>
        </p:nvSpPr>
        <p:spPr>
          <a:xfrm>
            <a:off x="6515100" y="2743200"/>
            <a:ext cx="4238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0">
                <a:solidFill>
                  <a:srgbClr val="667168"/>
                </a:solidFill>
              </a:defRPr>
            </a:pPr>
            <a:r>
              <a:rPr sz="1238" b="0">
                <a:solidFill>
                  <a:srgbClr val="667168"/>
                </a:solidFill>
              </a:rPr>
              <a:t>Comparar Heliar × Moura e preços por produto.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C6907EE-5FE3-48FA-B27A-DE603C4856DE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5086350" cy="1809750"/>
          </a:xfrm>
          <a:prstGeom prst="roundRect">
            <a:avLst>
              <a:gd name="adj" fmla="val 11579"/>
            </a:avLst>
          </a:prstGeom>
          <a:solidFill>
            <a:srgbClr val="F3F6F4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DB8AB7-B240-4E51-8838-CEA264FC08FB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114300" cy="1809750"/>
          </a:xfrm>
          <a:prstGeom prst="roundRect">
            <a:avLst>
              <a:gd name="adj" fmla="val 50000"/>
            </a:avLst>
          </a:prstGeom>
          <a:solidFill>
            <a:srgbClr val="FF79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AF29D7A-A6CD-427D-AE1D-78903C503AD7}"/>
              </a:ext>
            </a:extLst>
          </p:cNvPr>
          <p:cNvSpPr>
            <a:spLocks noGrp="1"/>
          </p:cNvSpPr>
          <p:nvPr/>
        </p:nvSpPr>
        <p:spPr>
          <a:xfrm>
            <a:off x="1047750" y="4048125"/>
            <a:ext cx="433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FF7900"/>
                </a:solidFill>
              </a:defRPr>
            </a:pPr>
            <a:r>
              <a:rPr sz="825" b="1">
                <a:solidFill>
                  <a:srgbClr val="FF7900"/>
                </a:solidFill>
              </a:rPr>
              <a:t>CONCORRÊNCIA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0DF70C6-DCDC-42CD-9456-A5EE7F5A168A}"/>
              </a:ext>
            </a:extLst>
          </p:cNvPr>
          <p:cNvSpPr>
            <a:spLocks noGrp="1"/>
          </p:cNvSpPr>
          <p:nvPr/>
        </p:nvSpPr>
        <p:spPr>
          <a:xfrm>
            <a:off x="1047750" y="4371975"/>
            <a:ext cx="4333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21512"/>
                </a:solidFill>
              </a:defRPr>
            </a:pPr>
            <a:r>
              <a:rPr sz="1875" b="1">
                <a:solidFill>
                  <a:srgbClr val="121512"/>
                </a:solidFill>
              </a:rPr>
              <a:t>Ações comerciais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57A015F-CBAF-4565-8A5F-B73F22780ECD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4238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0">
                <a:solidFill>
                  <a:srgbClr val="667168"/>
                </a:solidFill>
              </a:defRPr>
            </a:pPr>
            <a:r>
              <a:rPr sz="1238" b="0">
                <a:solidFill>
                  <a:srgbClr val="667168"/>
                </a:solidFill>
              </a:rPr>
              <a:t>Monitorar descontos, prazos, bônus e validade.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3FC19E9-7D12-4C72-A430-495D311D806F}"/>
              </a:ext>
            </a:extLst>
          </p:cNvPr>
          <p:cNvSpPr>
            <a:spLocks noGrp="1"/>
          </p:cNvSpPr>
          <p:nvPr/>
        </p:nvSpPr>
        <p:spPr>
          <a:xfrm>
            <a:off x="6153150" y="3790950"/>
            <a:ext cx="5086350" cy="1809750"/>
          </a:xfrm>
          <a:prstGeom prst="roundRect">
            <a:avLst>
              <a:gd name="adj" fmla="val 11579"/>
            </a:avLst>
          </a:prstGeom>
          <a:solidFill>
            <a:srgbClr val="F3F6F4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504259DE-73A5-4FE6-B55E-594F9DA721FF}"/>
              </a:ext>
            </a:extLst>
          </p:cNvPr>
          <p:cNvSpPr>
            <a:spLocks noGrp="1"/>
          </p:cNvSpPr>
          <p:nvPr/>
        </p:nvSpPr>
        <p:spPr>
          <a:xfrm>
            <a:off x="6153150" y="3790950"/>
            <a:ext cx="114300" cy="1809750"/>
          </a:xfrm>
          <a:prstGeom prst="roundRect">
            <a:avLst>
              <a:gd name="adj" fmla="val 50000"/>
            </a:avLst>
          </a:prstGeom>
          <a:solidFill>
            <a:srgbClr val="06331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DF58E2A-9AF8-4491-95AD-0947B3F02A73}"/>
              </a:ext>
            </a:extLst>
          </p:cNvPr>
          <p:cNvSpPr>
            <a:spLocks noGrp="1"/>
          </p:cNvSpPr>
          <p:nvPr/>
        </p:nvSpPr>
        <p:spPr>
          <a:xfrm>
            <a:off x="6515100" y="4048125"/>
            <a:ext cx="433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06331F"/>
                </a:solidFill>
              </a:defRPr>
            </a:pPr>
            <a:r>
              <a:rPr sz="825" b="1">
                <a:solidFill>
                  <a:srgbClr val="06331F"/>
                </a:solidFill>
              </a:rPr>
              <a:t>SUCATA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943F0F2-B162-436E-B116-5F73C442D26E}"/>
              </a:ext>
            </a:extLst>
          </p:cNvPr>
          <p:cNvSpPr>
            <a:spLocks noGrp="1"/>
          </p:cNvSpPr>
          <p:nvPr/>
        </p:nvSpPr>
        <p:spPr>
          <a:xfrm>
            <a:off x="6515100" y="4371975"/>
            <a:ext cx="4333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21512"/>
                </a:solidFill>
              </a:defRPr>
            </a:pPr>
            <a:r>
              <a:rPr sz="1875" b="1">
                <a:solidFill>
                  <a:srgbClr val="121512"/>
                </a:solidFill>
              </a:rPr>
              <a:t>Coleta e agenda logística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855AE39-5857-45B1-9139-D27420513C1A}"/>
              </a:ext>
            </a:extLst>
          </p:cNvPr>
          <p:cNvSpPr>
            <a:spLocks noGrp="1"/>
          </p:cNvSpPr>
          <p:nvPr/>
        </p:nvSpPr>
        <p:spPr>
          <a:xfrm>
            <a:off x="6515100" y="4857750"/>
            <a:ext cx="4238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38" b="0">
                <a:solidFill>
                  <a:srgbClr val="667168"/>
                </a:solidFill>
              </a:defRPr>
            </a:pPr>
            <a:r>
              <a:rPr sz="1238" b="0">
                <a:solidFill>
                  <a:srgbClr val="667168"/>
                </a:solidFill>
              </a:rPr>
              <a:t>Separar kg realizados dos kg pendentes da logística.</a:t>
            </a:r>
          </a:p>
        </p:txBody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1F9164D2-2D38-4856-BD45-90A546BD160D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49A0301-2EFA-40D9-B11B-52D1984F7162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00783B"/>
                </a:solidFill>
              </a:defRPr>
            </a:pPr>
            <a:r>
              <a:rPr sz="750" b="1">
                <a:solidFill>
                  <a:srgbClr val="00783B"/>
                </a:solidFill>
              </a:rPr>
              <a:t>CIRNE ROTAS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45D245C-E827-4B78-8B46-0BA35A7F27C8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667168"/>
                </a:solidFill>
              </a:defRPr>
            </a:pPr>
            <a:r>
              <a:rPr sz="750" b="1">
                <a:solidFill>
                  <a:srgbClr val="66716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40749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-title">
            <a:extLst>
              <a:ext uri="{FF2B5EF4-FFF2-40B4-BE49-F238E27FC236}">
                <a16:creationId xmlns:a16="http://schemas.microsoft.com/office/drawing/2014/main" id="{DF3554F9-6674-4E1A-9DD8-638708FF5D5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O piloto é pequeno de propósito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0E99969-7B71-46D1-AEB4-EB07AF475A23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168"/>
                </a:solidFill>
              </a:defRPr>
            </a:pPr>
            <a:r>
              <a:rPr sz="1275" b="0">
                <a:solidFill>
                  <a:srgbClr val="667168"/>
                </a:solidFill>
              </a:rPr>
              <a:t>A primeira versão prova a rotina de campo antes de ampliar rotas e logística.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5E18304-CF02-480D-9012-B63BD7CEFEDC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5162550" cy="4133850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D4FF37A-6A7E-4830-979F-1C0AC665909C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5162550" cy="581025"/>
          </a:xfrm>
          <a:prstGeom prst="roundRect">
            <a:avLst>
              <a:gd name="adj" fmla="val 39344"/>
            </a:avLst>
          </a:prstGeom>
          <a:solidFill>
            <a:srgbClr val="00A65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C21975A-0040-4328-98FE-46948D0FC269}"/>
              </a:ext>
            </a:extLst>
          </p:cNvPr>
          <p:cNvSpPr>
            <a:spLocks noGrp="1"/>
          </p:cNvSpPr>
          <p:nvPr/>
        </p:nvSpPr>
        <p:spPr>
          <a:xfrm>
            <a:off x="981075" y="1752600"/>
            <a:ext cx="457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ENTRA NO PILOTO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E78A78A-1335-4CA6-B3E2-BB8649B938BF}"/>
              </a:ext>
            </a:extLst>
          </p:cNvPr>
          <p:cNvSpPr>
            <a:spLocks noGrp="1"/>
          </p:cNvSpPr>
          <p:nvPr/>
        </p:nvSpPr>
        <p:spPr>
          <a:xfrm>
            <a:off x="981075" y="24098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47FFB8E-BBF7-49AF-841D-A56F88AE0665}"/>
              </a:ext>
            </a:extLst>
          </p:cNvPr>
          <p:cNvSpPr>
            <a:spLocks noGrp="1"/>
          </p:cNvSpPr>
          <p:nvPr/>
        </p:nvSpPr>
        <p:spPr>
          <a:xfrm>
            <a:off x="981075" y="2438400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00783B"/>
                </a:solidFill>
              </a:defRPr>
            </a:pPr>
            <a:r>
              <a:rPr sz="825" b="1">
                <a:solidFill>
                  <a:srgbClr val="00783B"/>
                </a:solidFill>
              </a:rPr>
              <a:t>✓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BFA5A83-A5DA-49F9-9A6E-64804A5CFA51}"/>
              </a:ext>
            </a:extLst>
          </p:cNvPr>
          <p:cNvSpPr>
            <a:spLocks noGrp="1"/>
          </p:cNvSpPr>
          <p:nvPr/>
        </p:nvSpPr>
        <p:spPr>
          <a:xfrm>
            <a:off x="1333500" y="2409825"/>
            <a:ext cx="404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21512"/>
                </a:solidFill>
              </a:defRPr>
            </a:pPr>
            <a:r>
              <a:rPr sz="1200" b="0">
                <a:solidFill>
                  <a:srgbClr val="121512"/>
                </a:solidFill>
              </a:rPr>
              <a:t>Login individual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AD182EF-75A9-4134-9D7C-37820C5E2F86}"/>
              </a:ext>
            </a:extLst>
          </p:cNvPr>
          <p:cNvSpPr>
            <a:spLocks noGrp="1"/>
          </p:cNvSpPr>
          <p:nvPr/>
        </p:nvSpPr>
        <p:spPr>
          <a:xfrm>
            <a:off x="981075" y="28289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C323709-A5DF-42A5-8840-80CFDD97456F}"/>
              </a:ext>
            </a:extLst>
          </p:cNvPr>
          <p:cNvSpPr>
            <a:spLocks noGrp="1"/>
          </p:cNvSpPr>
          <p:nvPr/>
        </p:nvSpPr>
        <p:spPr>
          <a:xfrm>
            <a:off x="981075" y="2857500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00783B"/>
                </a:solidFill>
              </a:defRPr>
            </a:pPr>
            <a:r>
              <a:rPr sz="825" b="1">
                <a:solidFill>
                  <a:srgbClr val="00783B"/>
                </a:solidFill>
              </a:rPr>
              <a:t>✓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70A251A-5822-494A-9F2E-30E172C61EA2}"/>
              </a:ext>
            </a:extLst>
          </p:cNvPr>
          <p:cNvSpPr>
            <a:spLocks noGrp="1"/>
          </p:cNvSpPr>
          <p:nvPr/>
        </p:nvSpPr>
        <p:spPr>
          <a:xfrm>
            <a:off x="1333500" y="2828925"/>
            <a:ext cx="404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21512"/>
                </a:solidFill>
              </a:defRPr>
            </a:pPr>
            <a:r>
              <a:rPr sz="1200" b="0">
                <a:solidFill>
                  <a:srgbClr val="121512"/>
                </a:solidFill>
              </a:rPr>
              <a:t>Rota diária em lista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4D7DAE6-99E4-494D-9C18-DD42EE702BB0}"/>
              </a:ext>
            </a:extLst>
          </p:cNvPr>
          <p:cNvSpPr>
            <a:spLocks noGrp="1"/>
          </p:cNvSpPr>
          <p:nvPr/>
        </p:nvSpPr>
        <p:spPr>
          <a:xfrm>
            <a:off x="981075" y="3248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5346CCA-36AA-42EB-8763-20E0A8185589}"/>
              </a:ext>
            </a:extLst>
          </p:cNvPr>
          <p:cNvSpPr>
            <a:spLocks noGrp="1"/>
          </p:cNvSpPr>
          <p:nvPr/>
        </p:nvSpPr>
        <p:spPr>
          <a:xfrm>
            <a:off x="981075" y="3276600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00783B"/>
                </a:solidFill>
              </a:defRPr>
            </a:pPr>
            <a:r>
              <a:rPr sz="825" b="1">
                <a:solidFill>
                  <a:srgbClr val="00783B"/>
                </a:solidFill>
              </a:rPr>
              <a:t>✓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2270058-1072-4980-8BFF-BAC1FBD94265}"/>
              </a:ext>
            </a:extLst>
          </p:cNvPr>
          <p:cNvSpPr>
            <a:spLocks noGrp="1"/>
          </p:cNvSpPr>
          <p:nvPr/>
        </p:nvSpPr>
        <p:spPr>
          <a:xfrm>
            <a:off x="1333500" y="3248025"/>
            <a:ext cx="404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21512"/>
                </a:solidFill>
              </a:defRPr>
            </a:pPr>
            <a:r>
              <a:rPr sz="1200" b="0">
                <a:solidFill>
                  <a:srgbClr val="121512"/>
                </a:solidFill>
              </a:rPr>
              <a:t>Abrir destino no Google Maps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CA1E96E-46E3-46EB-A989-AF6055BC2549}"/>
              </a:ext>
            </a:extLst>
          </p:cNvPr>
          <p:cNvSpPr>
            <a:spLocks noGrp="1"/>
          </p:cNvSpPr>
          <p:nvPr/>
        </p:nvSpPr>
        <p:spPr>
          <a:xfrm>
            <a:off x="981075" y="36671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01B91AC-4699-46F5-993B-C49908B64122}"/>
              </a:ext>
            </a:extLst>
          </p:cNvPr>
          <p:cNvSpPr>
            <a:spLocks noGrp="1"/>
          </p:cNvSpPr>
          <p:nvPr/>
        </p:nvSpPr>
        <p:spPr>
          <a:xfrm>
            <a:off x="981075" y="3695700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00783B"/>
                </a:solidFill>
              </a:defRPr>
            </a:pPr>
            <a:r>
              <a:rPr sz="825" b="1">
                <a:solidFill>
                  <a:srgbClr val="00783B"/>
                </a:solidFill>
              </a:rPr>
              <a:t>✓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F1E85CB-1B16-4D0A-9A28-FED9703108A2}"/>
              </a:ext>
            </a:extLst>
          </p:cNvPr>
          <p:cNvSpPr>
            <a:spLocks noGrp="1"/>
          </p:cNvSpPr>
          <p:nvPr/>
        </p:nvSpPr>
        <p:spPr>
          <a:xfrm>
            <a:off x="1333500" y="3667125"/>
            <a:ext cx="404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21512"/>
                </a:solidFill>
              </a:defRPr>
            </a:pPr>
            <a:r>
              <a:rPr sz="1200" b="0">
                <a:solidFill>
                  <a:srgbClr val="121512"/>
                </a:solidFill>
              </a:rPr>
              <a:t>Visita com GPS, resultado e informe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2FDEED4-7B53-465B-B09A-C9E12CFD39CC}"/>
              </a:ext>
            </a:extLst>
          </p:cNvPr>
          <p:cNvSpPr>
            <a:spLocks noGrp="1"/>
          </p:cNvSpPr>
          <p:nvPr/>
        </p:nvSpPr>
        <p:spPr>
          <a:xfrm>
            <a:off x="981075" y="40862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A3CB60E-D7F8-42FC-A151-997B79F6C9F5}"/>
              </a:ext>
            </a:extLst>
          </p:cNvPr>
          <p:cNvSpPr>
            <a:spLocks noGrp="1"/>
          </p:cNvSpPr>
          <p:nvPr/>
        </p:nvSpPr>
        <p:spPr>
          <a:xfrm>
            <a:off x="981075" y="4114800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00783B"/>
                </a:solidFill>
              </a:defRPr>
            </a:pPr>
            <a:r>
              <a:rPr sz="825" b="1">
                <a:solidFill>
                  <a:srgbClr val="00783B"/>
                </a:solidFill>
              </a:rPr>
              <a:t>✓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3F8051A-CDB4-400F-88C9-AD8BD1A40B52}"/>
              </a:ext>
            </a:extLst>
          </p:cNvPr>
          <p:cNvSpPr>
            <a:spLocks noGrp="1"/>
          </p:cNvSpPr>
          <p:nvPr/>
        </p:nvSpPr>
        <p:spPr>
          <a:xfrm>
            <a:off x="1333500" y="4086225"/>
            <a:ext cx="404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121512"/>
                </a:solidFill>
              </a:defRPr>
            </a:pPr>
            <a:r>
              <a:rPr sz="1200" b="1">
                <a:solidFill>
                  <a:srgbClr val="121512"/>
                </a:solidFill>
              </a:rPr>
              <a:t>Estoque Heliar e Moura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42A1B912-DB00-4E96-850F-6313E7EA392F}"/>
              </a:ext>
            </a:extLst>
          </p:cNvPr>
          <p:cNvSpPr>
            <a:spLocks noGrp="1"/>
          </p:cNvSpPr>
          <p:nvPr/>
        </p:nvSpPr>
        <p:spPr>
          <a:xfrm>
            <a:off x="981075" y="45053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CC70354-0FCC-4B7D-91CD-B4DC71B5F2AF}"/>
              </a:ext>
            </a:extLst>
          </p:cNvPr>
          <p:cNvSpPr>
            <a:spLocks noGrp="1"/>
          </p:cNvSpPr>
          <p:nvPr/>
        </p:nvSpPr>
        <p:spPr>
          <a:xfrm>
            <a:off x="981075" y="4533900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00783B"/>
                </a:solidFill>
              </a:defRPr>
            </a:pPr>
            <a:r>
              <a:rPr sz="825" b="1">
                <a:solidFill>
                  <a:srgbClr val="00783B"/>
                </a:solidFill>
              </a:rPr>
              <a:t>✓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168DB17-3F90-465C-9F56-5B2353E35E97}"/>
              </a:ext>
            </a:extLst>
          </p:cNvPr>
          <p:cNvSpPr>
            <a:spLocks noGrp="1"/>
          </p:cNvSpPr>
          <p:nvPr/>
        </p:nvSpPr>
        <p:spPr>
          <a:xfrm>
            <a:off x="1333500" y="4505325"/>
            <a:ext cx="404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121512"/>
                </a:solidFill>
              </a:defRPr>
            </a:pPr>
            <a:r>
              <a:rPr sz="1200" dirty="0" err="1">
                <a:solidFill>
                  <a:srgbClr val="121512"/>
                </a:solidFill>
              </a:rPr>
              <a:t>Preços</a:t>
            </a:r>
            <a:r>
              <a:rPr sz="1200" dirty="0">
                <a:solidFill>
                  <a:srgbClr val="121512"/>
                </a:solidFill>
              </a:rPr>
              <a:t> e </a:t>
            </a:r>
            <a:r>
              <a:rPr sz="1200" dirty="0" err="1">
                <a:solidFill>
                  <a:srgbClr val="121512"/>
                </a:solidFill>
              </a:rPr>
              <a:t>ações</a:t>
            </a:r>
            <a:r>
              <a:rPr sz="1200" dirty="0">
                <a:solidFill>
                  <a:srgbClr val="121512"/>
                </a:solidFill>
              </a:rPr>
              <a:t> da </a:t>
            </a:r>
            <a:r>
              <a:rPr sz="1200" dirty="0" err="1">
                <a:solidFill>
                  <a:srgbClr val="121512"/>
                </a:solidFill>
              </a:rPr>
              <a:t>concorrência</a:t>
            </a:r>
            <a:endParaRPr sz="1200" dirty="0">
              <a:solidFill>
                <a:srgbClr val="121512"/>
              </a:solidFill>
            </a:endParaRP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6B3310F-22E7-482C-9E69-F71AC350B373}"/>
              </a:ext>
            </a:extLst>
          </p:cNvPr>
          <p:cNvSpPr>
            <a:spLocks noGrp="1"/>
          </p:cNvSpPr>
          <p:nvPr/>
        </p:nvSpPr>
        <p:spPr>
          <a:xfrm>
            <a:off x="981075" y="49244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BFA8059-205A-48EF-B119-8D3353EFAB78}"/>
              </a:ext>
            </a:extLst>
          </p:cNvPr>
          <p:cNvSpPr>
            <a:spLocks noGrp="1"/>
          </p:cNvSpPr>
          <p:nvPr/>
        </p:nvSpPr>
        <p:spPr>
          <a:xfrm>
            <a:off x="981075" y="4953000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00783B"/>
                </a:solidFill>
              </a:defRPr>
            </a:pPr>
            <a:r>
              <a:rPr sz="825" b="1">
                <a:solidFill>
                  <a:srgbClr val="00783B"/>
                </a:solidFill>
              </a:rPr>
              <a:t>✓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B8E9F74-38DF-4F30-98F8-936F22B4EE55}"/>
              </a:ext>
            </a:extLst>
          </p:cNvPr>
          <p:cNvSpPr>
            <a:spLocks noGrp="1"/>
          </p:cNvSpPr>
          <p:nvPr/>
        </p:nvSpPr>
        <p:spPr>
          <a:xfrm>
            <a:off x="1333500" y="4924425"/>
            <a:ext cx="404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21512"/>
                </a:solidFill>
              </a:defRPr>
            </a:pPr>
            <a:r>
              <a:rPr sz="1200" b="0">
                <a:solidFill>
                  <a:srgbClr val="121512"/>
                </a:solidFill>
              </a:rPr>
              <a:t>Sucata coletada ou agendada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47254DA-BAEB-4AA0-86CE-9B4ABE9D703C}"/>
              </a:ext>
            </a:extLst>
          </p:cNvPr>
          <p:cNvSpPr>
            <a:spLocks noGrp="1"/>
          </p:cNvSpPr>
          <p:nvPr/>
        </p:nvSpPr>
        <p:spPr>
          <a:xfrm>
            <a:off x="6343650" y="1581150"/>
            <a:ext cx="5162550" cy="4133850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DD56484D-F470-4A33-9CCC-8F0FDDB81F84}"/>
              </a:ext>
            </a:extLst>
          </p:cNvPr>
          <p:cNvSpPr>
            <a:spLocks noGrp="1"/>
          </p:cNvSpPr>
          <p:nvPr/>
        </p:nvSpPr>
        <p:spPr>
          <a:xfrm>
            <a:off x="6343650" y="1581150"/>
            <a:ext cx="5162550" cy="581025"/>
          </a:xfrm>
          <a:prstGeom prst="roundRect">
            <a:avLst>
              <a:gd name="adj" fmla="val 39344"/>
            </a:avLst>
          </a:prstGeom>
          <a:solidFill>
            <a:srgbClr val="121512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FF95E020-4391-417C-BFD5-E26D6498D7FF}"/>
              </a:ext>
            </a:extLst>
          </p:cNvPr>
          <p:cNvSpPr>
            <a:spLocks noGrp="1"/>
          </p:cNvSpPr>
          <p:nvPr/>
        </p:nvSpPr>
        <p:spPr>
          <a:xfrm>
            <a:off x="6638925" y="1752600"/>
            <a:ext cx="457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FICA PARA DEPOIS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D4915DC8-1C2E-454B-8FF1-A369A318F58A}"/>
              </a:ext>
            </a:extLst>
          </p:cNvPr>
          <p:cNvSpPr>
            <a:spLocks noGrp="1"/>
          </p:cNvSpPr>
          <p:nvPr/>
        </p:nvSpPr>
        <p:spPr>
          <a:xfrm>
            <a:off x="6638925" y="24098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EF1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B88C7F2-E35E-45E7-9020-E015B4337C0E}"/>
              </a:ext>
            </a:extLst>
          </p:cNvPr>
          <p:cNvSpPr>
            <a:spLocks noGrp="1"/>
          </p:cNvSpPr>
          <p:nvPr/>
        </p:nvSpPr>
        <p:spPr>
          <a:xfrm>
            <a:off x="6638925" y="24288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667168"/>
                </a:solidFill>
              </a:defRPr>
            </a:pPr>
            <a:r>
              <a:rPr sz="825" b="1">
                <a:solidFill>
                  <a:srgbClr val="667168"/>
                </a:solidFill>
              </a:rPr>
              <a:t>—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2FC53C5-0C5B-499A-B498-D458FA6888C0}"/>
              </a:ext>
            </a:extLst>
          </p:cNvPr>
          <p:cNvSpPr>
            <a:spLocks noGrp="1"/>
          </p:cNvSpPr>
          <p:nvPr/>
        </p:nvSpPr>
        <p:spPr>
          <a:xfrm>
            <a:off x="6991350" y="2409825"/>
            <a:ext cx="404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67168"/>
                </a:solidFill>
              </a:defRPr>
            </a:pPr>
            <a:r>
              <a:rPr sz="1200" b="0">
                <a:solidFill>
                  <a:srgbClr val="667168"/>
                </a:solidFill>
              </a:rPr>
              <a:t>Otimização automática da rota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18F951B6-829F-4730-B250-AE5B0C4D4430}"/>
              </a:ext>
            </a:extLst>
          </p:cNvPr>
          <p:cNvSpPr>
            <a:spLocks noGrp="1"/>
          </p:cNvSpPr>
          <p:nvPr/>
        </p:nvSpPr>
        <p:spPr>
          <a:xfrm>
            <a:off x="6638925" y="28289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EF1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C03A6AE-72D5-4EC4-B78D-6321875A23C3}"/>
              </a:ext>
            </a:extLst>
          </p:cNvPr>
          <p:cNvSpPr>
            <a:spLocks noGrp="1"/>
          </p:cNvSpPr>
          <p:nvPr/>
        </p:nvSpPr>
        <p:spPr>
          <a:xfrm>
            <a:off x="6638925" y="28479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667168"/>
                </a:solidFill>
              </a:defRPr>
            </a:pPr>
            <a:r>
              <a:rPr sz="825" b="1">
                <a:solidFill>
                  <a:srgbClr val="667168"/>
                </a:solidFill>
              </a:rPr>
              <a:t>—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9E96086D-F11D-4620-8DE3-1156F66E7C65}"/>
              </a:ext>
            </a:extLst>
          </p:cNvPr>
          <p:cNvSpPr>
            <a:spLocks noGrp="1"/>
          </p:cNvSpPr>
          <p:nvPr/>
        </p:nvSpPr>
        <p:spPr>
          <a:xfrm>
            <a:off x="6991350" y="2828925"/>
            <a:ext cx="404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67168"/>
                </a:solidFill>
              </a:defRPr>
            </a:pPr>
            <a:r>
              <a:rPr sz="1200" b="0">
                <a:solidFill>
                  <a:srgbClr val="667168"/>
                </a:solidFill>
              </a:rPr>
              <a:t>Mapa e navegação dentro do app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AD43B060-640F-4637-B610-FCEA72D32EFF}"/>
              </a:ext>
            </a:extLst>
          </p:cNvPr>
          <p:cNvSpPr>
            <a:spLocks noGrp="1"/>
          </p:cNvSpPr>
          <p:nvPr/>
        </p:nvSpPr>
        <p:spPr>
          <a:xfrm>
            <a:off x="6638925" y="32480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EF1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3698B4E9-40DE-424B-AFBA-DB78D5E10156}"/>
              </a:ext>
            </a:extLst>
          </p:cNvPr>
          <p:cNvSpPr>
            <a:spLocks noGrp="1"/>
          </p:cNvSpPr>
          <p:nvPr/>
        </p:nvSpPr>
        <p:spPr>
          <a:xfrm>
            <a:off x="6638925" y="32670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667168"/>
                </a:solidFill>
              </a:defRPr>
            </a:pPr>
            <a:r>
              <a:rPr sz="825" b="1">
                <a:solidFill>
                  <a:srgbClr val="667168"/>
                </a:solidFill>
              </a:rPr>
              <a:t>—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7C343E9B-3DF2-47F3-80B9-0AA71A0AAB15}"/>
              </a:ext>
            </a:extLst>
          </p:cNvPr>
          <p:cNvSpPr>
            <a:spLocks noGrp="1"/>
          </p:cNvSpPr>
          <p:nvPr/>
        </p:nvSpPr>
        <p:spPr>
          <a:xfrm>
            <a:off x="6991350" y="3248025"/>
            <a:ext cx="404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67168"/>
                </a:solidFill>
              </a:defRPr>
            </a:pPr>
            <a:r>
              <a:rPr sz="1200" b="0">
                <a:solidFill>
                  <a:srgbClr val="667168"/>
                </a:solidFill>
              </a:rPr>
              <a:t>Rastreamento contínuo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C647B92E-5DAA-4066-8AE7-7716C6BA18F2}"/>
              </a:ext>
            </a:extLst>
          </p:cNvPr>
          <p:cNvSpPr>
            <a:spLocks noGrp="1"/>
          </p:cNvSpPr>
          <p:nvPr/>
        </p:nvSpPr>
        <p:spPr>
          <a:xfrm>
            <a:off x="6638925" y="36671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EF1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85AD2A04-1449-48DC-9984-CC630A4A0A7B}"/>
              </a:ext>
            </a:extLst>
          </p:cNvPr>
          <p:cNvSpPr>
            <a:spLocks noGrp="1"/>
          </p:cNvSpPr>
          <p:nvPr/>
        </p:nvSpPr>
        <p:spPr>
          <a:xfrm>
            <a:off x="6638925" y="36861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667168"/>
                </a:solidFill>
              </a:defRPr>
            </a:pPr>
            <a:r>
              <a:rPr sz="825" b="1">
                <a:solidFill>
                  <a:srgbClr val="667168"/>
                </a:solidFill>
              </a:rPr>
              <a:t>—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A4ABF952-AD8C-473B-9F32-507C19AEB39B}"/>
              </a:ext>
            </a:extLst>
          </p:cNvPr>
          <p:cNvSpPr>
            <a:spLocks noGrp="1"/>
          </p:cNvSpPr>
          <p:nvPr/>
        </p:nvSpPr>
        <p:spPr>
          <a:xfrm>
            <a:off x="6991350" y="3667125"/>
            <a:ext cx="404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67168"/>
                </a:solidFill>
              </a:defRPr>
            </a:pPr>
            <a:r>
              <a:rPr sz="1200" b="0">
                <a:solidFill>
                  <a:srgbClr val="667168"/>
                </a:solidFill>
              </a:rPr>
              <a:t>Aplicativo nativo nas lojas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4F56ABA9-572C-412C-A59D-F8EDF074D533}"/>
              </a:ext>
            </a:extLst>
          </p:cNvPr>
          <p:cNvSpPr>
            <a:spLocks noGrp="1"/>
          </p:cNvSpPr>
          <p:nvPr/>
        </p:nvSpPr>
        <p:spPr>
          <a:xfrm>
            <a:off x="6638925" y="40862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EF1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12C26764-94DB-4DE8-A821-541ED369FC42}"/>
              </a:ext>
            </a:extLst>
          </p:cNvPr>
          <p:cNvSpPr>
            <a:spLocks noGrp="1"/>
          </p:cNvSpPr>
          <p:nvPr/>
        </p:nvSpPr>
        <p:spPr>
          <a:xfrm>
            <a:off x="6638925" y="41052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667168"/>
                </a:solidFill>
              </a:defRPr>
            </a:pPr>
            <a:r>
              <a:rPr sz="825" b="1">
                <a:solidFill>
                  <a:srgbClr val="667168"/>
                </a:solidFill>
              </a:rPr>
              <a:t>—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40A7382B-74CD-4859-AAC8-3A67840880C9}"/>
              </a:ext>
            </a:extLst>
          </p:cNvPr>
          <p:cNvSpPr>
            <a:spLocks noGrp="1"/>
          </p:cNvSpPr>
          <p:nvPr/>
        </p:nvSpPr>
        <p:spPr>
          <a:xfrm>
            <a:off x="6991350" y="4086225"/>
            <a:ext cx="404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67168"/>
                </a:solidFill>
              </a:defRPr>
            </a:pPr>
            <a:r>
              <a:rPr sz="1200" b="0">
                <a:solidFill>
                  <a:srgbClr val="667168"/>
                </a:solidFill>
              </a:rPr>
              <a:t>Integração automática com Orion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8296CE4B-87A6-467B-9D2E-0A5967B6385C}"/>
              </a:ext>
            </a:extLst>
          </p:cNvPr>
          <p:cNvSpPr>
            <a:spLocks noGrp="1"/>
          </p:cNvSpPr>
          <p:nvPr/>
        </p:nvSpPr>
        <p:spPr>
          <a:xfrm>
            <a:off x="6638925" y="45053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EF1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1ED1D5FA-165A-4DB0-9425-9DCD9B39EFCC}"/>
              </a:ext>
            </a:extLst>
          </p:cNvPr>
          <p:cNvSpPr>
            <a:spLocks noGrp="1"/>
          </p:cNvSpPr>
          <p:nvPr/>
        </p:nvSpPr>
        <p:spPr>
          <a:xfrm>
            <a:off x="6638925" y="45243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667168"/>
                </a:solidFill>
              </a:defRPr>
            </a:pPr>
            <a:r>
              <a:rPr sz="825" b="1">
                <a:solidFill>
                  <a:srgbClr val="667168"/>
                </a:solidFill>
              </a:rPr>
              <a:t>—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F46609C2-D3B7-4863-8FFA-8C3C2E4A80AC}"/>
              </a:ext>
            </a:extLst>
          </p:cNvPr>
          <p:cNvSpPr>
            <a:spLocks noGrp="1"/>
          </p:cNvSpPr>
          <p:nvPr/>
        </p:nvSpPr>
        <p:spPr>
          <a:xfrm>
            <a:off x="6991350" y="4505325"/>
            <a:ext cx="404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67168"/>
                </a:solidFill>
              </a:defRPr>
            </a:pPr>
            <a:r>
              <a:rPr sz="1200" b="0">
                <a:solidFill>
                  <a:srgbClr val="667168"/>
                </a:solidFill>
              </a:rPr>
              <a:t>Solicitação completa de coleta de sucata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4424409A-D927-4768-8F47-BEC8B003B5CF}"/>
              </a:ext>
            </a:extLst>
          </p:cNvPr>
          <p:cNvSpPr>
            <a:spLocks noGrp="1"/>
          </p:cNvSpPr>
          <p:nvPr/>
        </p:nvSpPr>
        <p:spPr>
          <a:xfrm>
            <a:off x="6638925" y="49244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EF1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118C688D-1519-44E7-8C01-D968EBBDD278}"/>
              </a:ext>
            </a:extLst>
          </p:cNvPr>
          <p:cNvSpPr>
            <a:spLocks noGrp="1"/>
          </p:cNvSpPr>
          <p:nvPr/>
        </p:nvSpPr>
        <p:spPr>
          <a:xfrm>
            <a:off x="6638925" y="4943475"/>
            <a:ext cx="209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667168"/>
                </a:solidFill>
              </a:defRPr>
            </a:pPr>
            <a:r>
              <a:rPr sz="825" b="1">
                <a:solidFill>
                  <a:srgbClr val="667168"/>
                </a:solidFill>
              </a:rPr>
              <a:t>—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A5BA8A26-00D7-4707-818B-29AB127863DD}"/>
              </a:ext>
            </a:extLst>
          </p:cNvPr>
          <p:cNvSpPr>
            <a:spLocks noGrp="1"/>
          </p:cNvSpPr>
          <p:nvPr/>
        </p:nvSpPr>
        <p:spPr>
          <a:xfrm>
            <a:off x="6991350" y="4924425"/>
            <a:ext cx="404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67168"/>
                </a:solidFill>
              </a:defRPr>
            </a:pPr>
            <a:r>
              <a:rPr sz="1200" b="0">
                <a:solidFill>
                  <a:srgbClr val="667168"/>
                </a:solidFill>
              </a:rPr>
              <a:t>BI avançado e inteligência artificial</a:t>
            </a:r>
          </a:p>
        </p:txBody>
      </p:sp>
      <p:sp>
        <p:nvSpPr>
          <p:cNvPr id="51" name="Conector reto 50">
            <a:extLst>
              <a:ext uri="{FF2B5EF4-FFF2-40B4-BE49-F238E27FC236}">
                <a16:creationId xmlns:a16="http://schemas.microsoft.com/office/drawing/2014/main" id="{C9F05FFC-DFC1-4F74-97F5-91CF07725328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AE533365-57CE-468D-B1BA-0ED428D0BE6F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00783B"/>
                </a:solidFill>
              </a:defRPr>
            </a:pPr>
            <a:r>
              <a:rPr sz="750" b="1">
                <a:solidFill>
                  <a:srgbClr val="00783B"/>
                </a:solidFill>
              </a:rPr>
              <a:t>CIRNE ROTAS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1BE2E27C-5A2F-4CCC-BA41-93393AE5F427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667168"/>
                </a:solidFill>
              </a:defRPr>
            </a:pPr>
            <a:r>
              <a:rPr sz="750" b="1">
                <a:solidFill>
                  <a:srgbClr val="66716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5773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-title">
            <a:extLst>
              <a:ext uri="{FF2B5EF4-FFF2-40B4-BE49-F238E27FC236}">
                <a16:creationId xmlns:a16="http://schemas.microsoft.com/office/drawing/2014/main" id="{D15A50F8-C13D-4B45-B12D-451D29D9FF0D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25" b="1">
                <a:solidFill>
                  <a:srgbClr val="121512"/>
                </a:solidFill>
              </a:defRPr>
            </a:pPr>
            <a:r>
              <a:rPr sz="2925" b="1">
                <a:solidFill>
                  <a:srgbClr val="121512"/>
                </a:solidFill>
              </a:rPr>
              <a:t>30 dias para provar valor antes de ampliar o investimento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FCED903-264A-46D4-AFC0-CD52ED522F22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168"/>
                </a:solidFill>
              </a:defRPr>
            </a:pPr>
            <a:r>
              <a:rPr sz="1275" b="0">
                <a:solidFill>
                  <a:srgbClr val="667168"/>
                </a:solidFill>
              </a:rPr>
              <a:t>Piloto controlado, com métricas de adoção, execução e qualidade dos informes.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908B158-515B-4751-959E-A545303DC8D1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2333625" cy="1257300"/>
          </a:xfrm>
          <a:prstGeom prst="roundRect">
            <a:avLst>
              <a:gd name="adj" fmla="val 15152"/>
            </a:avLst>
          </a:prstGeom>
          <a:solidFill>
            <a:srgbClr val="06331F"/>
          </a:solidFill>
          <a:ln w="9525">
            <a:solidFill>
              <a:srgbClr val="0633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0A37582-3C45-4C8B-9ACF-11B3098A896A}"/>
              </a:ext>
            </a:extLst>
          </p:cNvPr>
          <p:cNvSpPr>
            <a:spLocks noGrp="1"/>
          </p:cNvSpPr>
          <p:nvPr/>
        </p:nvSpPr>
        <p:spPr>
          <a:xfrm>
            <a:off x="876300" y="1828800"/>
            <a:ext cx="195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2A5CA11-629C-486A-9E01-846ADB42699A}"/>
              </a:ext>
            </a:extLst>
          </p:cNvPr>
          <p:cNvSpPr>
            <a:spLocks noGrp="1"/>
          </p:cNvSpPr>
          <p:nvPr/>
        </p:nvSpPr>
        <p:spPr>
          <a:xfrm>
            <a:off x="876300" y="2390775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CDE4D5"/>
                </a:solidFill>
              </a:defRPr>
            </a:pPr>
            <a:r>
              <a:rPr sz="1125" b="1">
                <a:solidFill>
                  <a:srgbClr val="CDE4D5"/>
                </a:solidFill>
              </a:rPr>
              <a:t>dias de piloto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167ECB-EFFE-491F-BD45-60C88602C54F}"/>
              </a:ext>
            </a:extLst>
          </p:cNvPr>
          <p:cNvSpPr>
            <a:spLocks noGrp="1"/>
          </p:cNvSpPr>
          <p:nvPr/>
        </p:nvSpPr>
        <p:spPr>
          <a:xfrm>
            <a:off x="3305175" y="1600200"/>
            <a:ext cx="2333625" cy="1257300"/>
          </a:xfrm>
          <a:prstGeom prst="roundRect">
            <a:avLst>
              <a:gd name="adj" fmla="val 15152"/>
            </a:avLst>
          </a:prstGeom>
          <a:solidFill>
            <a:srgbClr val="F3F6F4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95740B9-2CF1-4330-8350-4955501404CD}"/>
              </a:ext>
            </a:extLst>
          </p:cNvPr>
          <p:cNvSpPr>
            <a:spLocks noGrp="1"/>
          </p:cNvSpPr>
          <p:nvPr/>
        </p:nvSpPr>
        <p:spPr>
          <a:xfrm>
            <a:off x="3495675" y="1828800"/>
            <a:ext cx="195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0" b="1">
                <a:solidFill>
                  <a:srgbClr val="121512"/>
                </a:solidFill>
              </a:defRPr>
            </a:pPr>
            <a:r>
              <a:rPr sz="2400" b="1">
                <a:solidFill>
                  <a:srgbClr val="121512"/>
                </a:solidFill>
              </a:rPr>
              <a:t>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B8A3B85-09A5-43B3-A7FC-60122EDBF0C8}"/>
              </a:ext>
            </a:extLst>
          </p:cNvPr>
          <p:cNvSpPr>
            <a:spLocks noGrp="1"/>
          </p:cNvSpPr>
          <p:nvPr/>
        </p:nvSpPr>
        <p:spPr>
          <a:xfrm>
            <a:off x="3495675" y="2390775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667168"/>
                </a:solidFill>
              </a:defRPr>
            </a:pPr>
            <a:r>
              <a:rPr sz="1125" b="1">
                <a:solidFill>
                  <a:srgbClr val="667168"/>
                </a:solidFill>
              </a:rPr>
              <a:t>vendedores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726E48A-7022-4382-BC73-406DC5FB46FF}"/>
              </a:ext>
            </a:extLst>
          </p:cNvPr>
          <p:cNvSpPr>
            <a:spLocks noGrp="1"/>
          </p:cNvSpPr>
          <p:nvPr/>
        </p:nvSpPr>
        <p:spPr>
          <a:xfrm>
            <a:off x="5924550" y="1600200"/>
            <a:ext cx="2333625" cy="1257300"/>
          </a:xfrm>
          <a:prstGeom prst="roundRect">
            <a:avLst>
              <a:gd name="adj" fmla="val 15152"/>
            </a:avLst>
          </a:prstGeom>
          <a:solidFill>
            <a:srgbClr val="F3F6F4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4AFCF20-9512-4C13-BFE6-35933B418DD0}"/>
              </a:ext>
            </a:extLst>
          </p:cNvPr>
          <p:cNvSpPr>
            <a:spLocks noGrp="1"/>
          </p:cNvSpPr>
          <p:nvPr/>
        </p:nvSpPr>
        <p:spPr>
          <a:xfrm>
            <a:off x="6115050" y="1828800"/>
            <a:ext cx="195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0" b="1">
                <a:solidFill>
                  <a:srgbClr val="121512"/>
                </a:solidFill>
              </a:defRPr>
            </a:pPr>
            <a:r>
              <a:rPr sz="2400" b="1">
                <a:solidFill>
                  <a:srgbClr val="121512"/>
                </a:solidFill>
              </a:rPr>
              <a:t>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63A4E69-5099-496C-885E-0EF23089E486}"/>
              </a:ext>
            </a:extLst>
          </p:cNvPr>
          <p:cNvSpPr>
            <a:spLocks noGrp="1"/>
          </p:cNvSpPr>
          <p:nvPr/>
        </p:nvSpPr>
        <p:spPr>
          <a:xfrm>
            <a:off x="6115050" y="2390775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667168"/>
                </a:solidFill>
              </a:defRPr>
            </a:pPr>
            <a:r>
              <a:rPr sz="1125" b="1">
                <a:solidFill>
                  <a:srgbClr val="667168"/>
                </a:solidFill>
              </a:rPr>
              <a:t>gestor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39A0AE2-6DF4-4D17-8B36-7A8EF49741A3}"/>
              </a:ext>
            </a:extLst>
          </p:cNvPr>
          <p:cNvSpPr>
            <a:spLocks noGrp="1"/>
          </p:cNvSpPr>
          <p:nvPr/>
        </p:nvSpPr>
        <p:spPr>
          <a:xfrm>
            <a:off x="8543925" y="1600200"/>
            <a:ext cx="2333625" cy="1257300"/>
          </a:xfrm>
          <a:prstGeom prst="roundRect">
            <a:avLst>
              <a:gd name="adj" fmla="val 15152"/>
            </a:avLst>
          </a:prstGeom>
          <a:solidFill>
            <a:srgbClr val="F3F6F4"/>
          </a:solidFill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7DA4CC2-E983-4599-A545-9B39D5D7AEC5}"/>
              </a:ext>
            </a:extLst>
          </p:cNvPr>
          <p:cNvSpPr>
            <a:spLocks noGrp="1"/>
          </p:cNvSpPr>
          <p:nvPr/>
        </p:nvSpPr>
        <p:spPr>
          <a:xfrm>
            <a:off x="8734425" y="1828800"/>
            <a:ext cx="195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0" b="1">
                <a:solidFill>
                  <a:srgbClr val="121512"/>
                </a:solidFill>
              </a:defRPr>
            </a:pPr>
            <a:r>
              <a:rPr sz="2400" b="1">
                <a:solidFill>
                  <a:srgbClr val="121512"/>
                </a:solidFill>
              </a:rPr>
              <a:t>5–8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3B438F6-5BC0-40C8-971C-9F543808C5CF}"/>
              </a:ext>
            </a:extLst>
          </p:cNvPr>
          <p:cNvSpPr>
            <a:spLocks noGrp="1"/>
          </p:cNvSpPr>
          <p:nvPr/>
        </p:nvSpPr>
        <p:spPr>
          <a:xfrm>
            <a:off x="8734425" y="2390775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667168"/>
                </a:solidFill>
              </a:defRPr>
            </a:pPr>
            <a:r>
              <a:rPr sz="1125" b="1">
                <a:solidFill>
                  <a:srgbClr val="667168"/>
                </a:solidFill>
              </a:rPr>
              <a:t>visitas por dia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0C566A5-4CDD-4CDC-981F-4AED0ECE840D}"/>
              </a:ext>
            </a:extLst>
          </p:cNvPr>
          <p:cNvSpPr>
            <a:spLocks noGrp="1"/>
          </p:cNvSpPr>
          <p:nvPr/>
        </p:nvSpPr>
        <p:spPr>
          <a:xfrm>
            <a:off x="704850" y="3343275"/>
            <a:ext cx="476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21512"/>
                </a:solidFill>
              </a:defRPr>
            </a:pPr>
            <a:r>
              <a:rPr sz="1950" b="1">
                <a:solidFill>
                  <a:srgbClr val="121512"/>
                </a:solidFill>
              </a:rPr>
              <a:t>Critérios iniciais de sucesso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5E08509-8510-49A1-9A0C-9E35D596657C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5067300" cy="790575"/>
          </a:xfrm>
          <a:prstGeom prst="roundRect">
            <a:avLst>
              <a:gd name="adj" fmla="val 20482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CE74332-2DEB-40DB-939C-341BF0CAFC64}"/>
              </a:ext>
            </a:extLst>
          </p:cNvPr>
          <p:cNvSpPr>
            <a:spLocks noGrp="1"/>
          </p:cNvSpPr>
          <p:nvPr/>
        </p:nvSpPr>
        <p:spPr>
          <a:xfrm>
            <a:off x="895350" y="4057650"/>
            <a:ext cx="10668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783B"/>
                </a:solidFill>
              </a:defRPr>
            </a:pPr>
            <a:r>
              <a:rPr sz="1950" b="1">
                <a:solidFill>
                  <a:srgbClr val="00783B"/>
                </a:solidFill>
              </a:rPr>
              <a:t>≥ 90%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691BEA4-4D56-41D6-A72F-4AEC3EEC7DA0}"/>
              </a:ext>
            </a:extLst>
          </p:cNvPr>
          <p:cNvSpPr>
            <a:spLocks noGrp="1"/>
          </p:cNvSpPr>
          <p:nvPr/>
        </p:nvSpPr>
        <p:spPr>
          <a:xfrm>
            <a:off x="2066925" y="4019550"/>
            <a:ext cx="3390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1">
                <a:solidFill>
                  <a:srgbClr val="121512"/>
                </a:solidFill>
              </a:defRPr>
            </a:pPr>
            <a:r>
              <a:rPr sz="1163" b="1">
                <a:solidFill>
                  <a:srgbClr val="121512"/>
                </a:solidFill>
              </a:rPr>
              <a:t>das visitas executadas registradas no app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A542291-613B-4710-960B-9F87ADB613F1}"/>
              </a:ext>
            </a:extLst>
          </p:cNvPr>
          <p:cNvSpPr>
            <a:spLocks noGrp="1"/>
          </p:cNvSpPr>
          <p:nvPr/>
        </p:nvSpPr>
        <p:spPr>
          <a:xfrm>
            <a:off x="6096000" y="3876675"/>
            <a:ext cx="5067300" cy="790575"/>
          </a:xfrm>
          <a:prstGeom prst="roundRect">
            <a:avLst>
              <a:gd name="adj" fmla="val 20482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E047C5A-CD88-4972-A6B6-27917FB86B1F}"/>
              </a:ext>
            </a:extLst>
          </p:cNvPr>
          <p:cNvSpPr>
            <a:spLocks noGrp="1"/>
          </p:cNvSpPr>
          <p:nvPr/>
        </p:nvSpPr>
        <p:spPr>
          <a:xfrm>
            <a:off x="6305550" y="4057650"/>
            <a:ext cx="10668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783B"/>
                </a:solidFill>
              </a:defRPr>
            </a:pPr>
            <a:r>
              <a:rPr sz="1950" b="1">
                <a:solidFill>
                  <a:srgbClr val="00783B"/>
                </a:solidFill>
              </a:rPr>
              <a:t>≥ 95%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7DF5851-31FD-4F65-BFD7-C2707A583E26}"/>
              </a:ext>
            </a:extLst>
          </p:cNvPr>
          <p:cNvSpPr>
            <a:spLocks noGrp="1"/>
          </p:cNvSpPr>
          <p:nvPr/>
        </p:nvSpPr>
        <p:spPr>
          <a:xfrm>
            <a:off x="7477125" y="4019550"/>
            <a:ext cx="3390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1">
                <a:solidFill>
                  <a:srgbClr val="121512"/>
                </a:solidFill>
              </a:defRPr>
            </a:pPr>
            <a:r>
              <a:rPr sz="1163" b="1">
                <a:solidFill>
                  <a:srgbClr val="121512"/>
                </a:solidFill>
              </a:rPr>
              <a:t>das visitas encerradas com campos completos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3C4F143-EB02-4A0D-9E58-ED53250839D1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5067300" cy="790575"/>
          </a:xfrm>
          <a:prstGeom prst="roundRect">
            <a:avLst>
              <a:gd name="adj" fmla="val 20482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A6ABA41-85EE-4AD0-9E7D-307D3D168F69}"/>
              </a:ext>
            </a:extLst>
          </p:cNvPr>
          <p:cNvSpPr>
            <a:spLocks noGrp="1"/>
          </p:cNvSpPr>
          <p:nvPr/>
        </p:nvSpPr>
        <p:spPr>
          <a:xfrm>
            <a:off x="895350" y="5057775"/>
            <a:ext cx="10668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783B"/>
                </a:solidFill>
              </a:defRPr>
            </a:pPr>
            <a:r>
              <a:rPr sz="1950" b="1">
                <a:solidFill>
                  <a:srgbClr val="00783B"/>
                </a:solidFill>
              </a:rPr>
              <a:t>100%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AB12231-7108-4C7D-A550-B4C0B6A7A692}"/>
              </a:ext>
            </a:extLst>
          </p:cNvPr>
          <p:cNvSpPr>
            <a:spLocks noGrp="1"/>
          </p:cNvSpPr>
          <p:nvPr/>
        </p:nvSpPr>
        <p:spPr>
          <a:xfrm>
            <a:off x="2066925" y="5019675"/>
            <a:ext cx="3390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1">
                <a:solidFill>
                  <a:srgbClr val="121512"/>
                </a:solidFill>
              </a:defRPr>
            </a:pPr>
            <a:r>
              <a:rPr sz="1163" b="1">
                <a:solidFill>
                  <a:srgbClr val="121512"/>
                </a:solidFill>
              </a:rPr>
              <a:t>das visitas com informe de sucata e de ações da concorrência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8E20A39C-5FF3-407C-B0C0-0C76F113897D}"/>
              </a:ext>
            </a:extLst>
          </p:cNvPr>
          <p:cNvSpPr>
            <a:spLocks noGrp="1"/>
          </p:cNvSpPr>
          <p:nvPr/>
        </p:nvSpPr>
        <p:spPr>
          <a:xfrm>
            <a:off x="6096000" y="4876800"/>
            <a:ext cx="5067300" cy="790575"/>
          </a:xfrm>
          <a:prstGeom prst="roundRect">
            <a:avLst>
              <a:gd name="adj" fmla="val 20482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A1D7F29-7B37-4074-B22F-C7D5E621E3F7}"/>
              </a:ext>
            </a:extLst>
          </p:cNvPr>
          <p:cNvSpPr>
            <a:spLocks noGrp="1"/>
          </p:cNvSpPr>
          <p:nvPr/>
        </p:nvSpPr>
        <p:spPr>
          <a:xfrm>
            <a:off x="6305550" y="5057775"/>
            <a:ext cx="10668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0783B"/>
                </a:solidFill>
              </a:defRPr>
            </a:pPr>
            <a:r>
              <a:rPr sz="1950" b="1">
                <a:solidFill>
                  <a:srgbClr val="00783B"/>
                </a:solidFill>
              </a:rPr>
              <a:t>0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B7DA37F3-82E1-44B0-B86A-5CFE1E8F3C20}"/>
              </a:ext>
            </a:extLst>
          </p:cNvPr>
          <p:cNvSpPr>
            <a:spLocks noGrp="1"/>
          </p:cNvSpPr>
          <p:nvPr/>
        </p:nvSpPr>
        <p:spPr>
          <a:xfrm>
            <a:off x="7477125" y="5019675"/>
            <a:ext cx="3390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63" b="1">
                <a:solidFill>
                  <a:srgbClr val="121512"/>
                </a:solidFill>
              </a:defRPr>
            </a:pPr>
            <a:r>
              <a:rPr sz="1163" b="1">
                <a:solidFill>
                  <a:srgbClr val="121512"/>
                </a:solidFill>
              </a:rPr>
              <a:t>registro confirmado perdido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A9A1A6C-D8FE-45C7-B231-D70965AF1A31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820400" cy="304800"/>
          </a:xfrm>
          <a:prstGeom prst="roundRect">
            <a:avLst>
              <a:gd name="adj" fmla="val 37500"/>
            </a:avLst>
          </a:prstGeom>
          <a:solidFill>
            <a:srgbClr val="FFF0E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A07CE89-CC51-42E7-BA98-CF27D4866823}"/>
              </a:ext>
            </a:extLst>
          </p:cNvPr>
          <p:cNvSpPr>
            <a:spLocks noGrp="1"/>
          </p:cNvSpPr>
          <p:nvPr/>
        </p:nvSpPr>
        <p:spPr>
          <a:xfrm>
            <a:off x="895350" y="6115050"/>
            <a:ext cx="104013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13" b="1">
                <a:solidFill>
                  <a:srgbClr val="A64B00"/>
                </a:solidFill>
              </a:defRPr>
            </a:pPr>
            <a:r>
              <a:rPr sz="1013" b="1">
                <a:solidFill>
                  <a:srgbClr val="A64B00"/>
                </a:solidFill>
              </a:rPr>
              <a:t>Infraestrutura já disponível: VPS Hostinger KVM 2, implantação isolada do n8n.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1A849D1D-BFEF-4A8B-9199-1FD1201A0087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DFE6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317D0DF-72CD-453E-988C-E6757C52229D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00783B"/>
                </a:solidFill>
              </a:defRPr>
            </a:pPr>
            <a:r>
              <a:rPr sz="750" b="1">
                <a:solidFill>
                  <a:srgbClr val="00783B"/>
                </a:solidFill>
              </a:rPr>
              <a:t>CIRNE ROTAS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0384C358-A1AA-4BB4-BD5C-695A05357038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667168"/>
                </a:solidFill>
              </a:defRPr>
            </a:pPr>
            <a:r>
              <a:rPr sz="750" b="1">
                <a:solidFill>
                  <a:srgbClr val="66716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68024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63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E4C93E0-06C8-4B0E-8F20-2664B2214930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440180" cy="266700"/>
          </a:xfrm>
          <a:prstGeom prst="roundRect">
            <a:avLst>
              <a:gd name="adj" fmla="val 50000"/>
            </a:avLst>
          </a:prstGeom>
          <a:solidFill>
            <a:srgbClr val="FF79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5C36660-3DAF-47F5-A75F-16D11F59F898}"/>
              </a:ext>
            </a:extLst>
          </p:cNvPr>
          <p:cNvSpPr>
            <a:spLocks noGrp="1"/>
          </p:cNvSpPr>
          <p:nvPr/>
        </p:nvSpPr>
        <p:spPr>
          <a:xfrm>
            <a:off x="819150" y="571500"/>
            <a:ext cx="117348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DECISÃO PROPOSTA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0B7D070-14B2-4891-9EB6-5EB72DB3C7D4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76200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Autorizar a construção</a:t>
            </a:r>
          </a:p>
          <a:p>
            <a:pPr algn="l">
              <a:buNone/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do piloto simplificado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C405FE1-7E04-4B43-9A2A-7ECF8749AAB4}"/>
              </a:ext>
            </a:extLst>
          </p:cNvPr>
          <p:cNvSpPr>
            <a:spLocks noGrp="1"/>
          </p:cNvSpPr>
          <p:nvPr/>
        </p:nvSpPr>
        <p:spPr>
          <a:xfrm>
            <a:off x="704850" y="2466975"/>
            <a:ext cx="73818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C8DED1"/>
                </a:solidFill>
              </a:defRPr>
            </a:pPr>
            <a:r>
              <a:rPr sz="1575" b="0">
                <a:solidFill>
                  <a:srgbClr val="C8DED1"/>
                </a:solidFill>
              </a:rPr>
              <a:t>O objetivo é comprovar que uma rotina simples melhora a execução e devolve inteligência comercial, operacional e de sucata à gestão.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EB4DA6F-89BA-402D-84C3-9FCEC76596CF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3257550" cy="1047750"/>
          </a:xfrm>
          <a:prstGeom prst="roundRect">
            <a:avLst>
              <a:gd name="adj" fmla="val 16364"/>
            </a:avLst>
          </a:prstGeom>
          <a:solidFill>
            <a:srgbClr val="0D482C"/>
          </a:solidFill>
          <a:ln w="9525">
            <a:solidFill>
              <a:srgbClr val="2E6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E3951C9-9411-4767-96A6-68A702E8E496}"/>
              </a:ext>
            </a:extLst>
          </p:cNvPr>
          <p:cNvSpPr>
            <a:spLocks noGrp="1"/>
          </p:cNvSpPr>
          <p:nvPr/>
        </p:nvSpPr>
        <p:spPr>
          <a:xfrm>
            <a:off x="876300" y="4257675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00A65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3CDC2B1-75B1-4ACF-9FBD-EE9726AFEB3A}"/>
              </a:ext>
            </a:extLst>
          </p:cNvPr>
          <p:cNvSpPr>
            <a:spLocks noGrp="1"/>
          </p:cNvSpPr>
          <p:nvPr/>
        </p:nvSpPr>
        <p:spPr>
          <a:xfrm>
            <a:off x="876300" y="43434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57018F7-AC48-4DF3-8A11-5966E8DEEFB7}"/>
              </a:ext>
            </a:extLst>
          </p:cNvPr>
          <p:cNvSpPr>
            <a:spLocks noGrp="1"/>
          </p:cNvSpPr>
          <p:nvPr/>
        </p:nvSpPr>
        <p:spPr>
          <a:xfrm>
            <a:off x="1438275" y="4238625"/>
            <a:ext cx="2238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Fechar campos e regras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EA3CA6C-504F-44BA-8A43-26D77C76E0A9}"/>
              </a:ext>
            </a:extLst>
          </p:cNvPr>
          <p:cNvSpPr>
            <a:spLocks noGrp="1"/>
          </p:cNvSpPr>
          <p:nvPr/>
        </p:nvSpPr>
        <p:spPr>
          <a:xfrm>
            <a:off x="4286250" y="3962400"/>
            <a:ext cx="3257550" cy="1047750"/>
          </a:xfrm>
          <a:prstGeom prst="roundRect">
            <a:avLst>
              <a:gd name="adj" fmla="val 16364"/>
            </a:avLst>
          </a:prstGeom>
          <a:solidFill>
            <a:srgbClr val="0D482C"/>
          </a:solidFill>
          <a:ln w="9525">
            <a:solidFill>
              <a:srgbClr val="2E6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D7CE6F5-6079-48DD-BB63-8AA631CE5707}"/>
              </a:ext>
            </a:extLst>
          </p:cNvPr>
          <p:cNvSpPr>
            <a:spLocks noGrp="1"/>
          </p:cNvSpPr>
          <p:nvPr/>
        </p:nvSpPr>
        <p:spPr>
          <a:xfrm>
            <a:off x="4476750" y="4257675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FF79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2973871-EFAA-43C9-9680-5BC177CA0861}"/>
              </a:ext>
            </a:extLst>
          </p:cNvPr>
          <p:cNvSpPr>
            <a:spLocks noGrp="1"/>
          </p:cNvSpPr>
          <p:nvPr/>
        </p:nvSpPr>
        <p:spPr>
          <a:xfrm>
            <a:off x="4476750" y="43434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F530201-849B-41DE-A4E7-15CF6F3ED40A}"/>
              </a:ext>
            </a:extLst>
          </p:cNvPr>
          <p:cNvSpPr>
            <a:spLocks noGrp="1"/>
          </p:cNvSpPr>
          <p:nvPr/>
        </p:nvSpPr>
        <p:spPr>
          <a:xfrm>
            <a:off x="5038725" y="4238625"/>
            <a:ext cx="2238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Construir e testar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8DBD421-867A-4231-9E1E-ADBE3974D2A6}"/>
              </a:ext>
            </a:extLst>
          </p:cNvPr>
          <p:cNvSpPr>
            <a:spLocks noGrp="1"/>
          </p:cNvSpPr>
          <p:nvPr/>
        </p:nvSpPr>
        <p:spPr>
          <a:xfrm>
            <a:off x="7886700" y="3962400"/>
            <a:ext cx="3257550" cy="1047750"/>
          </a:xfrm>
          <a:prstGeom prst="roundRect">
            <a:avLst>
              <a:gd name="adj" fmla="val 16364"/>
            </a:avLst>
          </a:prstGeom>
          <a:solidFill>
            <a:srgbClr val="0D482C"/>
          </a:solidFill>
          <a:ln w="9525">
            <a:solidFill>
              <a:srgbClr val="2E69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5D0EB56-5637-407C-8D3E-BCAB20A9F6A0}"/>
              </a:ext>
            </a:extLst>
          </p:cNvPr>
          <p:cNvSpPr>
            <a:spLocks noGrp="1"/>
          </p:cNvSpPr>
          <p:nvPr/>
        </p:nvSpPr>
        <p:spPr>
          <a:xfrm>
            <a:off x="8077200" y="4257675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00A651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E16EC03-C5A4-4314-AADB-1E385ECE3374}"/>
              </a:ext>
            </a:extLst>
          </p:cNvPr>
          <p:cNvSpPr>
            <a:spLocks noGrp="1"/>
          </p:cNvSpPr>
          <p:nvPr/>
        </p:nvSpPr>
        <p:spPr>
          <a:xfrm>
            <a:off x="8077200" y="43434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7DC6326-E2D1-4144-BBD4-A51C6FEAEBA1}"/>
              </a:ext>
            </a:extLst>
          </p:cNvPr>
          <p:cNvSpPr>
            <a:spLocks noGrp="1"/>
          </p:cNvSpPr>
          <p:nvPr/>
        </p:nvSpPr>
        <p:spPr>
          <a:xfrm>
            <a:off x="8639175" y="4238625"/>
            <a:ext cx="2238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Rodar 30 dias e avaliar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D15F9462-799A-4D4C-B685-595E5A6317BC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10534650" cy="581025"/>
          </a:xfrm>
          <a:prstGeom prst="roundRect">
            <a:avLst>
              <a:gd name="adj" fmla="val 2950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6DE0D70-CF00-48DC-80DF-EB963520EAD3}"/>
              </a:ext>
            </a:extLst>
          </p:cNvPr>
          <p:cNvSpPr>
            <a:spLocks noGrp="1"/>
          </p:cNvSpPr>
          <p:nvPr/>
        </p:nvSpPr>
        <p:spPr>
          <a:xfrm>
            <a:off x="904875" y="559117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06331F"/>
                </a:solidFill>
              </a:defRPr>
            </a:pPr>
            <a:r>
              <a:rPr sz="1575" b="1">
                <a:solidFill>
                  <a:srgbClr val="06331F"/>
                </a:solidFill>
              </a:rPr>
              <a:t>Se o piloto provar execução, mercado e coleta, ampliamos com evidência.</a:t>
            </a:r>
          </a:p>
        </p:txBody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688A0412-983E-4E87-90EC-11E06C51AF86}"/>
              </a:ext>
            </a:extLst>
          </p:cNvPr>
          <p:cNvSpPr>
            <a:spLocks noGrp="1"/>
          </p:cNvSpPr>
          <p:nvPr/>
        </p:nvSpPr>
        <p:spPr>
          <a:xfrm>
            <a:off x="666750" y="6515100"/>
            <a:ext cx="10858500" cy="0"/>
          </a:xfrm>
          <a:prstGeom prst="line">
            <a:avLst/>
          </a:prstGeom>
          <a:noFill/>
          <a:ln w="9525">
            <a:solidFill>
              <a:srgbClr val="315B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AB47762-2BCB-4569-9EB7-646287A6BABC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1">
                <a:solidFill>
                  <a:srgbClr val="C8DED1"/>
                </a:solidFill>
              </a:defRPr>
            </a:pPr>
            <a:r>
              <a:rPr sz="750" b="1">
                <a:solidFill>
                  <a:srgbClr val="C8DED1"/>
                </a:solidFill>
              </a:rPr>
              <a:t>CIRNE ROTAS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8E74130-580E-4C93-BEE3-34CD0A5D71AE}"/>
              </a:ext>
            </a:extLst>
          </p:cNvPr>
          <p:cNvSpPr>
            <a:spLocks noGrp="1"/>
          </p:cNvSpPr>
          <p:nvPr/>
        </p:nvSpPr>
        <p:spPr>
          <a:xfrm>
            <a:off x="1095375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1">
                <a:solidFill>
                  <a:srgbClr val="C8DED1"/>
                </a:solidFill>
              </a:defRPr>
            </a:pPr>
            <a:r>
              <a:rPr sz="750" b="1">
                <a:solidFill>
                  <a:srgbClr val="C8DED1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515901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1847</Words>
  <Application>Microsoft Office PowerPoint</Application>
  <DocSecurity>0</DocSecurity>
  <PresentationFormat>Widescreen</PresentationFormat>
  <Paragraphs>335</Paragraphs>
  <Slides>17</Slides>
  <Notes>17</Notes>
  <HiddenSlides>2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9" baseType="lpstr"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Hugo Castro</cp:lastModifiedBy>
  <cp:revision>2</cp:revision>
  <dcterms:created xsi:type="dcterms:W3CDTF">2026-09-03T21:33:01Z</dcterms:created>
  <dcterms:modified xsi:type="dcterms:W3CDTF">2026-09-03T22:16:52Z</dcterms:modified>
</cp:coreProperties>
</file>